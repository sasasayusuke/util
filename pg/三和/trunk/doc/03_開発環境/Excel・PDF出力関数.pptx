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115" d="100"/>
          <a:sy n="115" d="100"/>
        </p:scale>
        <p:origin x="432"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1524000" y="1122363"/>
            <a:ext cx="9144000" cy="2387600"/>
          </a:xfrm>
        </p:spPr>
        <p:txBody>
          <a:bodyPr anchor="b"/>
          <a:lstStyle>
            <a:lvl1pPr algn="ctr">
              <a:defRPr sz="6000"/>
            </a:lvl1pPr>
          </a:lstStyle>
          <a:p>
            <a:r>
              <a:rPr kumimoji="1" lang="ja-JP" altLang="en-US" smtClean="0"/>
              <a:t>マスター タイトルの書式設定</a:t>
            </a:r>
            <a:endParaRPr kumimoji="1" lang="ja-JP" altLang="en-US"/>
          </a:p>
        </p:txBody>
      </p:sp>
      <p:sp>
        <p:nvSpPr>
          <p:cNvPr id="3" name="サブタイトル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smtClean="0"/>
              <a:t>マスター サブタイトルの書式設定</a:t>
            </a:r>
            <a:endParaRPr kumimoji="1" lang="ja-JP" altLang="en-US"/>
          </a:p>
        </p:txBody>
      </p:sp>
      <p:sp>
        <p:nvSpPr>
          <p:cNvPr id="4" name="日付プレースホルダー 3"/>
          <p:cNvSpPr>
            <a:spLocks noGrp="1"/>
          </p:cNvSpPr>
          <p:nvPr>
            <p:ph type="dt" sz="half" idx="10"/>
          </p:nvPr>
        </p:nvSpPr>
        <p:spPr/>
        <p:txBody>
          <a:bodyPr/>
          <a:lstStyle/>
          <a:p>
            <a:fld id="{AD5A2B7E-42B1-492A-B011-5AA2E2BD9F11}" type="datetimeFigureOut">
              <a:rPr kumimoji="1" lang="ja-JP" altLang="en-US" smtClean="0"/>
              <a:t>2025/1/15</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A7E27DDB-1133-469B-936F-FD5CAE0F86D5}" type="slidenum">
              <a:rPr kumimoji="1" lang="ja-JP" altLang="en-US" smtClean="0"/>
              <a:t>‹#›</a:t>
            </a:fld>
            <a:endParaRPr kumimoji="1" lang="ja-JP" altLang="en-US"/>
          </a:p>
        </p:txBody>
      </p:sp>
    </p:spTree>
    <p:extLst>
      <p:ext uri="{BB962C8B-B14F-4D97-AF65-F5344CB8AC3E}">
        <p14:creationId xmlns:p14="http://schemas.microsoft.com/office/powerpoint/2010/main" val="30646386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マスター タイトルの書式設定</a:t>
            </a:r>
            <a:endParaRPr kumimoji="1" lang="ja-JP" altLang="en-US"/>
          </a:p>
        </p:txBody>
      </p:sp>
      <p:sp>
        <p:nvSpPr>
          <p:cNvPr id="3" name="コンテンツ プレースホルダー 2"/>
          <p:cNvSpPr>
            <a:spLocks noGrp="1"/>
          </p:cNvSpPr>
          <p:nvPr>
            <p:ph idx="1"/>
          </p:nvPr>
        </p:nvSpPr>
        <p:spPr/>
        <p:txBody>
          <a:bodyPr/>
          <a:lstStyle/>
          <a:p>
            <a:pPr lvl="0"/>
            <a:r>
              <a:rPr kumimoji="1" lang="ja-JP" altLang="en-US" smtClean="0"/>
              <a:t>マスター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ー 3"/>
          <p:cNvSpPr>
            <a:spLocks noGrp="1"/>
          </p:cNvSpPr>
          <p:nvPr>
            <p:ph type="dt" sz="half" idx="10"/>
          </p:nvPr>
        </p:nvSpPr>
        <p:spPr/>
        <p:txBody>
          <a:bodyPr/>
          <a:lstStyle/>
          <a:p>
            <a:fld id="{AD5A2B7E-42B1-492A-B011-5AA2E2BD9F11}" type="datetimeFigureOut">
              <a:rPr kumimoji="1" lang="ja-JP" altLang="en-US" smtClean="0"/>
              <a:t>2025/1/15</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A7E27DDB-1133-469B-936F-FD5CAE0F86D5}" type="slidenum">
              <a:rPr kumimoji="1" lang="ja-JP" altLang="en-US" smtClean="0"/>
              <a:t>‹#›</a:t>
            </a:fld>
            <a:endParaRPr kumimoji="1" lang="ja-JP" altLang="en-US"/>
          </a:p>
        </p:txBody>
      </p:sp>
    </p:spTree>
    <p:extLst>
      <p:ext uri="{BB962C8B-B14F-4D97-AF65-F5344CB8AC3E}">
        <p14:creationId xmlns:p14="http://schemas.microsoft.com/office/powerpoint/2010/main" val="13186676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831850" y="1709738"/>
            <a:ext cx="10515600" cy="2852737"/>
          </a:xfrm>
        </p:spPr>
        <p:txBody>
          <a:bodyPr anchor="b"/>
          <a:lstStyle>
            <a:lvl1pPr>
              <a:defRPr sz="6000"/>
            </a:lvl1pPr>
          </a:lstStyle>
          <a:p>
            <a:r>
              <a:rPr kumimoji="1" lang="ja-JP" altLang="en-US" smtClean="0"/>
              <a:t>マスター タイトルの書式設定</a:t>
            </a:r>
            <a:endParaRPr kumimoji="1" lang="ja-JP" altLang="en-US"/>
          </a:p>
        </p:txBody>
      </p:sp>
      <p:sp>
        <p:nvSpPr>
          <p:cNvPr id="3" name="テキスト プレースホルダー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ja-JP" altLang="en-US" smtClean="0"/>
              <a:t>マスター テキストの書式設定</a:t>
            </a:r>
          </a:p>
        </p:txBody>
      </p:sp>
      <p:sp>
        <p:nvSpPr>
          <p:cNvPr id="4" name="日付プレースホルダー 3"/>
          <p:cNvSpPr>
            <a:spLocks noGrp="1"/>
          </p:cNvSpPr>
          <p:nvPr>
            <p:ph type="dt" sz="half" idx="10"/>
          </p:nvPr>
        </p:nvSpPr>
        <p:spPr/>
        <p:txBody>
          <a:bodyPr/>
          <a:lstStyle/>
          <a:p>
            <a:fld id="{AD5A2B7E-42B1-492A-B011-5AA2E2BD9F11}" type="datetimeFigureOut">
              <a:rPr kumimoji="1" lang="ja-JP" altLang="en-US" smtClean="0"/>
              <a:t>2025/1/15</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A7E27DDB-1133-469B-936F-FD5CAE0F86D5}" type="slidenum">
              <a:rPr kumimoji="1" lang="ja-JP" altLang="en-US" smtClean="0"/>
              <a:t>‹#›</a:t>
            </a:fld>
            <a:endParaRPr kumimoji="1" lang="ja-JP" altLang="en-US"/>
          </a:p>
        </p:txBody>
      </p:sp>
    </p:spTree>
    <p:extLst>
      <p:ext uri="{BB962C8B-B14F-4D97-AF65-F5344CB8AC3E}">
        <p14:creationId xmlns:p14="http://schemas.microsoft.com/office/powerpoint/2010/main" val="5737669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マスター タイトルの書式設定</a:t>
            </a:r>
            <a:endParaRPr kumimoji="1" lang="ja-JP" altLang="en-US"/>
          </a:p>
        </p:txBody>
      </p:sp>
      <p:sp>
        <p:nvSpPr>
          <p:cNvPr id="3" name="コンテンツ プレースホルダー 2"/>
          <p:cNvSpPr>
            <a:spLocks noGrp="1"/>
          </p:cNvSpPr>
          <p:nvPr>
            <p:ph sz="half" idx="1"/>
          </p:nvPr>
        </p:nvSpPr>
        <p:spPr>
          <a:xfrm>
            <a:off x="838200" y="1825625"/>
            <a:ext cx="5181600" cy="4351338"/>
          </a:xfrm>
        </p:spPr>
        <p:txBody>
          <a:bodyPr/>
          <a:lstStyle/>
          <a:p>
            <a:pPr lvl="0"/>
            <a:r>
              <a:rPr kumimoji="1" lang="ja-JP" altLang="en-US" smtClean="0"/>
              <a:t>マスター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コンテンツ プレースホルダー 3"/>
          <p:cNvSpPr>
            <a:spLocks noGrp="1"/>
          </p:cNvSpPr>
          <p:nvPr>
            <p:ph sz="half" idx="2"/>
          </p:nvPr>
        </p:nvSpPr>
        <p:spPr>
          <a:xfrm>
            <a:off x="6172200" y="1825625"/>
            <a:ext cx="5181600" cy="4351338"/>
          </a:xfrm>
        </p:spPr>
        <p:txBody>
          <a:bodyPr/>
          <a:lstStyle/>
          <a:p>
            <a:pPr lvl="0"/>
            <a:r>
              <a:rPr kumimoji="1" lang="ja-JP" altLang="en-US" smtClean="0"/>
              <a:t>マスター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5" name="日付プレースホルダー 4"/>
          <p:cNvSpPr>
            <a:spLocks noGrp="1"/>
          </p:cNvSpPr>
          <p:nvPr>
            <p:ph type="dt" sz="half" idx="10"/>
          </p:nvPr>
        </p:nvSpPr>
        <p:spPr/>
        <p:txBody>
          <a:bodyPr/>
          <a:lstStyle/>
          <a:p>
            <a:fld id="{AD5A2B7E-42B1-492A-B011-5AA2E2BD9F11}" type="datetimeFigureOut">
              <a:rPr kumimoji="1" lang="ja-JP" altLang="en-US" smtClean="0"/>
              <a:t>2025/1/15</a:t>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A7E27DDB-1133-469B-936F-FD5CAE0F86D5}" type="slidenum">
              <a:rPr kumimoji="1" lang="ja-JP" altLang="en-US" smtClean="0"/>
              <a:t>‹#›</a:t>
            </a:fld>
            <a:endParaRPr kumimoji="1" lang="ja-JP" altLang="en-US"/>
          </a:p>
        </p:txBody>
      </p:sp>
    </p:spTree>
    <p:extLst>
      <p:ext uri="{BB962C8B-B14F-4D97-AF65-F5344CB8AC3E}">
        <p14:creationId xmlns:p14="http://schemas.microsoft.com/office/powerpoint/2010/main" val="8248457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a:xfrm>
            <a:off x="839788" y="365125"/>
            <a:ext cx="10515600" cy="1325563"/>
          </a:xfrm>
        </p:spPr>
        <p:txBody>
          <a:bodyPr/>
          <a:lstStyle/>
          <a:p>
            <a:r>
              <a:rPr kumimoji="1" lang="ja-JP" altLang="en-US" smtClean="0"/>
              <a:t>マスター タイトルの書式設定</a:t>
            </a:r>
            <a:endParaRPr kumimoji="1" lang="ja-JP" altLang="en-US"/>
          </a:p>
        </p:txBody>
      </p:sp>
      <p:sp>
        <p:nvSpPr>
          <p:cNvPr id="3" name="テキスト プレースホルダー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smtClean="0"/>
              <a:t>マスター テキストの書式設定</a:t>
            </a:r>
          </a:p>
        </p:txBody>
      </p:sp>
      <p:sp>
        <p:nvSpPr>
          <p:cNvPr id="4" name="コンテンツ プレースホルダー 3"/>
          <p:cNvSpPr>
            <a:spLocks noGrp="1"/>
          </p:cNvSpPr>
          <p:nvPr>
            <p:ph sz="half" idx="2"/>
          </p:nvPr>
        </p:nvSpPr>
        <p:spPr>
          <a:xfrm>
            <a:off x="839788" y="2505075"/>
            <a:ext cx="5157787" cy="3684588"/>
          </a:xfrm>
        </p:spPr>
        <p:txBody>
          <a:bodyPr/>
          <a:lstStyle/>
          <a:p>
            <a:pPr lvl="0"/>
            <a:r>
              <a:rPr kumimoji="1" lang="ja-JP" altLang="en-US" smtClean="0"/>
              <a:t>マスター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5" name="テキスト プレースホルダー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smtClean="0"/>
              <a:t>マスター テキストの書式設定</a:t>
            </a:r>
          </a:p>
        </p:txBody>
      </p:sp>
      <p:sp>
        <p:nvSpPr>
          <p:cNvPr id="6" name="コンテンツ プレースホルダー 5"/>
          <p:cNvSpPr>
            <a:spLocks noGrp="1"/>
          </p:cNvSpPr>
          <p:nvPr>
            <p:ph sz="quarter" idx="4"/>
          </p:nvPr>
        </p:nvSpPr>
        <p:spPr>
          <a:xfrm>
            <a:off x="6172200" y="2505075"/>
            <a:ext cx="5183188" cy="3684588"/>
          </a:xfrm>
        </p:spPr>
        <p:txBody>
          <a:bodyPr/>
          <a:lstStyle/>
          <a:p>
            <a:pPr lvl="0"/>
            <a:r>
              <a:rPr kumimoji="1" lang="ja-JP" altLang="en-US" smtClean="0"/>
              <a:t>マスター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7" name="日付プレースホルダー 6"/>
          <p:cNvSpPr>
            <a:spLocks noGrp="1"/>
          </p:cNvSpPr>
          <p:nvPr>
            <p:ph type="dt" sz="half" idx="10"/>
          </p:nvPr>
        </p:nvSpPr>
        <p:spPr/>
        <p:txBody>
          <a:bodyPr/>
          <a:lstStyle/>
          <a:p>
            <a:fld id="{AD5A2B7E-42B1-492A-B011-5AA2E2BD9F11}" type="datetimeFigureOut">
              <a:rPr kumimoji="1" lang="ja-JP" altLang="en-US" smtClean="0"/>
              <a:t>2025/1/15</a:t>
            </a:fld>
            <a:endParaRPr kumimoji="1" lang="ja-JP" altLang="en-US"/>
          </a:p>
        </p:txBody>
      </p:sp>
      <p:sp>
        <p:nvSpPr>
          <p:cNvPr id="8" name="フッター プレースホルダー 7"/>
          <p:cNvSpPr>
            <a:spLocks noGrp="1"/>
          </p:cNvSpPr>
          <p:nvPr>
            <p:ph type="ftr" sz="quarter" idx="11"/>
          </p:nvPr>
        </p:nvSpPr>
        <p:spPr/>
        <p:txBody>
          <a:bodyPr/>
          <a:lstStyle/>
          <a:p>
            <a:endParaRPr kumimoji="1" lang="ja-JP" altLang="en-US"/>
          </a:p>
        </p:txBody>
      </p:sp>
      <p:sp>
        <p:nvSpPr>
          <p:cNvPr id="9" name="スライド番号プレースホルダー 8"/>
          <p:cNvSpPr>
            <a:spLocks noGrp="1"/>
          </p:cNvSpPr>
          <p:nvPr>
            <p:ph type="sldNum" sz="quarter" idx="12"/>
          </p:nvPr>
        </p:nvSpPr>
        <p:spPr/>
        <p:txBody>
          <a:bodyPr/>
          <a:lstStyle/>
          <a:p>
            <a:fld id="{A7E27DDB-1133-469B-936F-FD5CAE0F86D5}" type="slidenum">
              <a:rPr kumimoji="1" lang="ja-JP" altLang="en-US" smtClean="0"/>
              <a:t>‹#›</a:t>
            </a:fld>
            <a:endParaRPr kumimoji="1" lang="ja-JP" altLang="en-US"/>
          </a:p>
        </p:txBody>
      </p:sp>
    </p:spTree>
    <p:extLst>
      <p:ext uri="{BB962C8B-B14F-4D97-AF65-F5344CB8AC3E}">
        <p14:creationId xmlns:p14="http://schemas.microsoft.com/office/powerpoint/2010/main" val="430168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マスター タイトルの書式設定</a:t>
            </a:r>
            <a:endParaRPr kumimoji="1" lang="ja-JP" altLang="en-US"/>
          </a:p>
        </p:txBody>
      </p:sp>
      <p:sp>
        <p:nvSpPr>
          <p:cNvPr id="3" name="日付プレースホルダー 2"/>
          <p:cNvSpPr>
            <a:spLocks noGrp="1"/>
          </p:cNvSpPr>
          <p:nvPr>
            <p:ph type="dt" sz="half" idx="10"/>
          </p:nvPr>
        </p:nvSpPr>
        <p:spPr/>
        <p:txBody>
          <a:bodyPr/>
          <a:lstStyle/>
          <a:p>
            <a:fld id="{AD5A2B7E-42B1-492A-B011-5AA2E2BD9F11}" type="datetimeFigureOut">
              <a:rPr kumimoji="1" lang="ja-JP" altLang="en-US" smtClean="0"/>
              <a:t>2025/1/15</a:t>
            </a:fld>
            <a:endParaRPr kumimoji="1" lang="ja-JP" altLang="en-US"/>
          </a:p>
        </p:txBody>
      </p:sp>
      <p:sp>
        <p:nvSpPr>
          <p:cNvPr id="4" name="フッター プレースホルダー 3"/>
          <p:cNvSpPr>
            <a:spLocks noGrp="1"/>
          </p:cNvSpPr>
          <p:nvPr>
            <p:ph type="ftr" sz="quarter" idx="11"/>
          </p:nvPr>
        </p:nvSpPr>
        <p:spPr/>
        <p:txBody>
          <a:bodyPr/>
          <a:lstStyle/>
          <a:p>
            <a:endParaRPr kumimoji="1" lang="ja-JP" altLang="en-US"/>
          </a:p>
        </p:txBody>
      </p:sp>
      <p:sp>
        <p:nvSpPr>
          <p:cNvPr id="5" name="スライド番号プレースホルダー 4"/>
          <p:cNvSpPr>
            <a:spLocks noGrp="1"/>
          </p:cNvSpPr>
          <p:nvPr>
            <p:ph type="sldNum" sz="quarter" idx="12"/>
          </p:nvPr>
        </p:nvSpPr>
        <p:spPr/>
        <p:txBody>
          <a:bodyPr/>
          <a:lstStyle/>
          <a:p>
            <a:fld id="{A7E27DDB-1133-469B-936F-FD5CAE0F86D5}" type="slidenum">
              <a:rPr kumimoji="1" lang="ja-JP" altLang="en-US" smtClean="0"/>
              <a:t>‹#›</a:t>
            </a:fld>
            <a:endParaRPr kumimoji="1" lang="ja-JP" altLang="en-US"/>
          </a:p>
        </p:txBody>
      </p:sp>
    </p:spTree>
    <p:extLst>
      <p:ext uri="{BB962C8B-B14F-4D97-AF65-F5344CB8AC3E}">
        <p14:creationId xmlns:p14="http://schemas.microsoft.com/office/powerpoint/2010/main" val="15148623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p:cNvSpPr>
            <a:spLocks noGrp="1"/>
          </p:cNvSpPr>
          <p:nvPr>
            <p:ph type="dt" sz="half" idx="10"/>
          </p:nvPr>
        </p:nvSpPr>
        <p:spPr/>
        <p:txBody>
          <a:bodyPr/>
          <a:lstStyle/>
          <a:p>
            <a:fld id="{AD5A2B7E-42B1-492A-B011-5AA2E2BD9F11}" type="datetimeFigureOut">
              <a:rPr kumimoji="1" lang="ja-JP" altLang="en-US" smtClean="0"/>
              <a:t>2025/1/15</a:t>
            </a:fld>
            <a:endParaRPr kumimoji="1" lang="ja-JP" altLang="en-US"/>
          </a:p>
        </p:txBody>
      </p:sp>
      <p:sp>
        <p:nvSpPr>
          <p:cNvPr id="3" name="フッター プレースホルダー 2"/>
          <p:cNvSpPr>
            <a:spLocks noGrp="1"/>
          </p:cNvSpPr>
          <p:nvPr>
            <p:ph type="ftr" sz="quarter" idx="11"/>
          </p:nvPr>
        </p:nvSpPr>
        <p:spPr/>
        <p:txBody>
          <a:bodyPr/>
          <a:lstStyle/>
          <a:p>
            <a:endParaRPr kumimoji="1" lang="ja-JP" altLang="en-US"/>
          </a:p>
        </p:txBody>
      </p:sp>
      <p:sp>
        <p:nvSpPr>
          <p:cNvPr id="4" name="スライド番号プレースホルダー 3"/>
          <p:cNvSpPr>
            <a:spLocks noGrp="1"/>
          </p:cNvSpPr>
          <p:nvPr>
            <p:ph type="sldNum" sz="quarter" idx="12"/>
          </p:nvPr>
        </p:nvSpPr>
        <p:spPr/>
        <p:txBody>
          <a:bodyPr/>
          <a:lstStyle/>
          <a:p>
            <a:fld id="{A7E27DDB-1133-469B-936F-FD5CAE0F86D5}" type="slidenum">
              <a:rPr kumimoji="1" lang="ja-JP" altLang="en-US" smtClean="0"/>
              <a:t>‹#›</a:t>
            </a:fld>
            <a:endParaRPr kumimoji="1" lang="ja-JP" altLang="en-US"/>
          </a:p>
        </p:txBody>
      </p:sp>
    </p:spTree>
    <p:extLst>
      <p:ext uri="{BB962C8B-B14F-4D97-AF65-F5344CB8AC3E}">
        <p14:creationId xmlns:p14="http://schemas.microsoft.com/office/powerpoint/2010/main" val="18402013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10;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839788" y="457200"/>
            <a:ext cx="3932237" cy="1600200"/>
          </a:xfrm>
        </p:spPr>
        <p:txBody>
          <a:bodyPr anchor="b"/>
          <a:lstStyle>
            <a:lvl1pPr>
              <a:defRPr sz="3200"/>
            </a:lvl1pPr>
          </a:lstStyle>
          <a:p>
            <a:r>
              <a:rPr kumimoji="1" lang="ja-JP" altLang="en-US" smtClean="0"/>
              <a:t>マスター タイトルの書式設定</a:t>
            </a:r>
            <a:endParaRPr kumimoji="1" lang="ja-JP" altLang="en-US"/>
          </a:p>
        </p:txBody>
      </p:sp>
      <p:sp>
        <p:nvSpPr>
          <p:cNvPr id="3" name="コンテンツ プレースホルダー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smtClean="0"/>
              <a:t>マスター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テキスト プレースホルダー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smtClean="0"/>
              <a:t>マスター テキストの書式設定</a:t>
            </a:r>
          </a:p>
        </p:txBody>
      </p:sp>
      <p:sp>
        <p:nvSpPr>
          <p:cNvPr id="5" name="日付プレースホルダー 4"/>
          <p:cNvSpPr>
            <a:spLocks noGrp="1"/>
          </p:cNvSpPr>
          <p:nvPr>
            <p:ph type="dt" sz="half" idx="10"/>
          </p:nvPr>
        </p:nvSpPr>
        <p:spPr/>
        <p:txBody>
          <a:bodyPr/>
          <a:lstStyle/>
          <a:p>
            <a:fld id="{AD5A2B7E-42B1-492A-B011-5AA2E2BD9F11}" type="datetimeFigureOut">
              <a:rPr kumimoji="1" lang="ja-JP" altLang="en-US" smtClean="0"/>
              <a:t>2025/1/15</a:t>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A7E27DDB-1133-469B-936F-FD5CAE0F86D5}" type="slidenum">
              <a:rPr kumimoji="1" lang="ja-JP" altLang="en-US" smtClean="0"/>
              <a:t>‹#›</a:t>
            </a:fld>
            <a:endParaRPr kumimoji="1" lang="ja-JP" altLang="en-US"/>
          </a:p>
        </p:txBody>
      </p:sp>
    </p:spTree>
    <p:extLst>
      <p:ext uri="{BB962C8B-B14F-4D97-AF65-F5344CB8AC3E}">
        <p14:creationId xmlns:p14="http://schemas.microsoft.com/office/powerpoint/2010/main" val="3601105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839788" y="457200"/>
            <a:ext cx="3932237" cy="1600200"/>
          </a:xfrm>
        </p:spPr>
        <p:txBody>
          <a:bodyPr anchor="b"/>
          <a:lstStyle>
            <a:lvl1pPr>
              <a:defRPr sz="3200"/>
            </a:lvl1pPr>
          </a:lstStyle>
          <a:p>
            <a:r>
              <a:rPr kumimoji="1" lang="ja-JP" altLang="en-US" smtClean="0"/>
              <a:t>マスター タイトルの書式設定</a:t>
            </a:r>
            <a:endParaRPr kumimoji="1" lang="ja-JP" altLang="en-US"/>
          </a:p>
        </p:txBody>
      </p:sp>
      <p:sp>
        <p:nvSpPr>
          <p:cNvPr id="3" name="図プレースホルダー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smtClean="0"/>
              <a:t>マスター テキストの書式設定</a:t>
            </a:r>
          </a:p>
        </p:txBody>
      </p:sp>
      <p:sp>
        <p:nvSpPr>
          <p:cNvPr id="5" name="日付プレースホルダー 4"/>
          <p:cNvSpPr>
            <a:spLocks noGrp="1"/>
          </p:cNvSpPr>
          <p:nvPr>
            <p:ph type="dt" sz="half" idx="10"/>
          </p:nvPr>
        </p:nvSpPr>
        <p:spPr/>
        <p:txBody>
          <a:bodyPr/>
          <a:lstStyle/>
          <a:p>
            <a:fld id="{AD5A2B7E-42B1-492A-B011-5AA2E2BD9F11}" type="datetimeFigureOut">
              <a:rPr kumimoji="1" lang="ja-JP" altLang="en-US" smtClean="0"/>
              <a:t>2025/1/15</a:t>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A7E27DDB-1133-469B-936F-FD5CAE0F86D5}" type="slidenum">
              <a:rPr kumimoji="1" lang="ja-JP" altLang="en-US" smtClean="0"/>
              <a:t>‹#›</a:t>
            </a:fld>
            <a:endParaRPr kumimoji="1" lang="ja-JP" altLang="en-US"/>
          </a:p>
        </p:txBody>
      </p:sp>
    </p:spTree>
    <p:extLst>
      <p:ext uri="{BB962C8B-B14F-4D97-AF65-F5344CB8AC3E}">
        <p14:creationId xmlns:p14="http://schemas.microsoft.com/office/powerpoint/2010/main" val="6864776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10;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マスター タイトルの書式設定</a:t>
            </a:r>
            <a:endParaRPr kumimoji="1" lang="ja-JP" altLang="en-US"/>
          </a:p>
        </p:txBody>
      </p:sp>
      <p:sp>
        <p:nvSpPr>
          <p:cNvPr id="3" name="縦書きテキスト プレースホルダー 2"/>
          <p:cNvSpPr>
            <a:spLocks noGrp="1"/>
          </p:cNvSpPr>
          <p:nvPr>
            <p:ph type="body" orient="vert" idx="1"/>
          </p:nvPr>
        </p:nvSpPr>
        <p:spPr/>
        <p:txBody>
          <a:bodyPr vert="eaVert"/>
          <a:lstStyle/>
          <a:p>
            <a:pPr lvl="0"/>
            <a:r>
              <a:rPr kumimoji="1" lang="ja-JP" altLang="en-US" smtClean="0"/>
              <a:t>マスター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ー 3"/>
          <p:cNvSpPr>
            <a:spLocks noGrp="1"/>
          </p:cNvSpPr>
          <p:nvPr>
            <p:ph type="dt" sz="half" idx="10"/>
          </p:nvPr>
        </p:nvSpPr>
        <p:spPr/>
        <p:txBody>
          <a:bodyPr/>
          <a:lstStyle/>
          <a:p>
            <a:fld id="{AD5A2B7E-42B1-492A-B011-5AA2E2BD9F11}" type="datetimeFigureOut">
              <a:rPr kumimoji="1" lang="ja-JP" altLang="en-US" smtClean="0"/>
              <a:t>2025/1/15</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A7E27DDB-1133-469B-936F-FD5CAE0F86D5}" type="slidenum">
              <a:rPr kumimoji="1" lang="ja-JP" altLang="en-US" smtClean="0"/>
              <a:t>‹#›</a:t>
            </a:fld>
            <a:endParaRPr kumimoji="1" lang="ja-JP" altLang="en-US"/>
          </a:p>
        </p:txBody>
      </p:sp>
    </p:spTree>
    <p:extLst>
      <p:ext uri="{BB962C8B-B14F-4D97-AF65-F5344CB8AC3E}">
        <p14:creationId xmlns:p14="http://schemas.microsoft.com/office/powerpoint/2010/main" val="7006077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8724900" y="365125"/>
            <a:ext cx="2628900" cy="5811838"/>
          </a:xfrm>
        </p:spPr>
        <p:txBody>
          <a:bodyPr vert="eaVert"/>
          <a:lstStyle/>
          <a:p>
            <a:r>
              <a:rPr kumimoji="1" lang="ja-JP" altLang="en-US" smtClean="0"/>
              <a:t>マスター タイトルの書式設定</a:t>
            </a:r>
            <a:endParaRPr kumimoji="1" lang="ja-JP" altLang="en-US"/>
          </a:p>
        </p:txBody>
      </p:sp>
      <p:sp>
        <p:nvSpPr>
          <p:cNvPr id="3" name="縦書きテキスト プレースホルダー 2"/>
          <p:cNvSpPr>
            <a:spLocks noGrp="1"/>
          </p:cNvSpPr>
          <p:nvPr>
            <p:ph type="body" orient="vert" idx="1"/>
          </p:nvPr>
        </p:nvSpPr>
        <p:spPr>
          <a:xfrm>
            <a:off x="838200" y="365125"/>
            <a:ext cx="7734300" cy="5811838"/>
          </a:xfrm>
        </p:spPr>
        <p:txBody>
          <a:bodyPr vert="eaVert"/>
          <a:lstStyle/>
          <a:p>
            <a:pPr lvl="0"/>
            <a:r>
              <a:rPr kumimoji="1" lang="ja-JP" altLang="en-US" smtClean="0"/>
              <a:t>マスター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ー 3"/>
          <p:cNvSpPr>
            <a:spLocks noGrp="1"/>
          </p:cNvSpPr>
          <p:nvPr>
            <p:ph type="dt" sz="half" idx="10"/>
          </p:nvPr>
        </p:nvSpPr>
        <p:spPr/>
        <p:txBody>
          <a:bodyPr/>
          <a:lstStyle/>
          <a:p>
            <a:fld id="{AD5A2B7E-42B1-492A-B011-5AA2E2BD9F11}" type="datetimeFigureOut">
              <a:rPr kumimoji="1" lang="ja-JP" altLang="en-US" smtClean="0"/>
              <a:t>2025/1/15</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A7E27DDB-1133-469B-936F-FD5CAE0F86D5}" type="slidenum">
              <a:rPr kumimoji="1" lang="ja-JP" altLang="en-US" smtClean="0"/>
              <a:t>‹#›</a:t>
            </a:fld>
            <a:endParaRPr kumimoji="1" lang="ja-JP" altLang="en-US"/>
          </a:p>
        </p:txBody>
      </p:sp>
    </p:spTree>
    <p:extLst>
      <p:ext uri="{BB962C8B-B14F-4D97-AF65-F5344CB8AC3E}">
        <p14:creationId xmlns:p14="http://schemas.microsoft.com/office/powerpoint/2010/main" val="22356745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smtClean="0"/>
              <a:t>マスター タイトルの書式設定</a:t>
            </a:r>
            <a:endParaRPr kumimoji="1" lang="ja-JP" altLang="en-US"/>
          </a:p>
        </p:txBody>
      </p:sp>
      <p:sp>
        <p:nvSpPr>
          <p:cNvPr id="3" name="テキスト プレースホルダー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smtClean="0"/>
              <a:t>マスター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ー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D5A2B7E-42B1-492A-B011-5AA2E2BD9F11}" type="datetimeFigureOut">
              <a:rPr kumimoji="1" lang="ja-JP" altLang="en-US" smtClean="0"/>
              <a:t>2025/1/15</a:t>
            </a:fld>
            <a:endParaRPr kumimoji="1" lang="ja-JP" altLang="en-US"/>
          </a:p>
        </p:txBody>
      </p:sp>
      <p:sp>
        <p:nvSpPr>
          <p:cNvPr id="5" name="フッター プレースホルダー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ー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7E27DDB-1133-469B-936F-FD5CAE0F86D5}" type="slidenum">
              <a:rPr kumimoji="1" lang="ja-JP" altLang="en-US" smtClean="0"/>
              <a:t>‹#›</a:t>
            </a:fld>
            <a:endParaRPr kumimoji="1" lang="ja-JP" altLang="en-US"/>
          </a:p>
        </p:txBody>
      </p:sp>
    </p:spTree>
    <p:extLst>
      <p:ext uri="{BB962C8B-B14F-4D97-AF65-F5344CB8AC3E}">
        <p14:creationId xmlns:p14="http://schemas.microsoft.com/office/powerpoint/2010/main" val="136600194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p:cNvSpPr txBox="1"/>
          <p:nvPr/>
        </p:nvSpPr>
        <p:spPr>
          <a:xfrm>
            <a:off x="422030" y="378069"/>
            <a:ext cx="4214615" cy="400110"/>
          </a:xfrm>
          <a:prstGeom prst="rect">
            <a:avLst/>
          </a:prstGeom>
          <a:noFill/>
        </p:spPr>
        <p:txBody>
          <a:bodyPr wrap="none" rtlCol="0">
            <a:spAutoFit/>
          </a:bodyPr>
          <a:lstStyle/>
          <a:p>
            <a:r>
              <a:rPr kumimoji="1" lang="en-US" altLang="ja-JP" sz="2000" b="1" dirty="0" smtClean="0"/>
              <a:t>Excel</a:t>
            </a:r>
            <a:r>
              <a:rPr kumimoji="1" lang="ja-JP" altLang="en-US" sz="2000" b="1" dirty="0" smtClean="0"/>
              <a:t>・</a:t>
            </a:r>
            <a:r>
              <a:rPr kumimoji="1" lang="en-US" altLang="ja-JP" sz="2000" b="1" dirty="0" smtClean="0"/>
              <a:t>PDF</a:t>
            </a:r>
            <a:r>
              <a:rPr lang="ja-JP" altLang="en-US" sz="2000" b="1" dirty="0" smtClean="0"/>
              <a:t>共通出力関数の使い方</a:t>
            </a:r>
            <a:endParaRPr kumimoji="1" lang="en-US" altLang="ja-JP" sz="2000" b="1" dirty="0" smtClean="0"/>
          </a:p>
        </p:txBody>
      </p:sp>
      <p:sp>
        <p:nvSpPr>
          <p:cNvPr id="5" name="テキスト ボックス 4"/>
          <p:cNvSpPr txBox="1"/>
          <p:nvPr/>
        </p:nvSpPr>
        <p:spPr>
          <a:xfrm>
            <a:off x="422030" y="1002323"/>
            <a:ext cx="11131061" cy="1754326"/>
          </a:xfrm>
          <a:prstGeom prst="rect">
            <a:avLst/>
          </a:prstGeom>
          <a:noFill/>
        </p:spPr>
        <p:txBody>
          <a:bodyPr wrap="square" rtlCol="0">
            <a:spAutoFit/>
          </a:bodyPr>
          <a:lstStyle/>
          <a:p>
            <a:pPr>
              <a:lnSpc>
                <a:spcPct val="150000"/>
              </a:lnSpc>
            </a:pPr>
            <a:r>
              <a:rPr lang="en-US" altLang="ja-JP" dirty="0" smtClean="0"/>
              <a:t>Excel</a:t>
            </a:r>
            <a:r>
              <a:rPr lang="ja-JP" altLang="en-US" dirty="0" smtClean="0"/>
              <a:t>の印刷設定で</a:t>
            </a:r>
            <a:r>
              <a:rPr lang="en-US" altLang="ja-JP" dirty="0" smtClean="0"/>
              <a:t>PDF</a:t>
            </a:r>
            <a:r>
              <a:rPr lang="ja-JP" altLang="en-US" dirty="0" smtClean="0"/>
              <a:t>を出力するための関数です。</a:t>
            </a:r>
            <a:r>
              <a:rPr kumimoji="1" lang="en-US" altLang="ja-JP" dirty="0" smtClean="0"/>
              <a:t/>
            </a:r>
            <a:br>
              <a:rPr kumimoji="1" lang="en-US" altLang="ja-JP" dirty="0" smtClean="0"/>
            </a:br>
            <a:r>
              <a:rPr kumimoji="1" lang="ja-JP" altLang="en-US" dirty="0" smtClean="0"/>
              <a:t>こちらの関数は</a:t>
            </a:r>
            <a:r>
              <a:rPr kumimoji="1" lang="en-US" altLang="ja-JP" dirty="0" smtClean="0"/>
              <a:t>PDF</a:t>
            </a:r>
            <a:r>
              <a:rPr kumimoji="1" lang="ja-JP" altLang="en-US" dirty="0" err="1" smtClean="0"/>
              <a:t>だけの</a:t>
            </a:r>
            <a:r>
              <a:rPr kumimoji="1" lang="ja-JP" altLang="en-US" dirty="0" smtClean="0"/>
              <a:t>出力でも</a:t>
            </a:r>
            <a:r>
              <a:rPr kumimoji="1" lang="en-US" altLang="ja-JP" dirty="0" smtClean="0"/>
              <a:t>Excel</a:t>
            </a:r>
            <a:r>
              <a:rPr kumimoji="1" lang="ja-JP" altLang="en-US" dirty="0" smtClean="0"/>
              <a:t>をベースとして出力を行う場合使用可能となります。</a:t>
            </a:r>
            <a:endParaRPr kumimoji="1" lang="en-US" altLang="ja-JP" dirty="0" smtClean="0"/>
          </a:p>
          <a:p>
            <a:pPr>
              <a:lnSpc>
                <a:spcPct val="150000"/>
              </a:lnSpc>
            </a:pPr>
            <a:r>
              <a:rPr lang="ja-JP" altLang="en-US" dirty="0" smtClean="0"/>
              <a:t>一部テンプレートファイル自体の操作が必要な箇所があるため手順を記載いたします。</a:t>
            </a:r>
            <a:endParaRPr lang="en-US" altLang="ja-JP" dirty="0"/>
          </a:p>
          <a:p>
            <a:pPr>
              <a:lnSpc>
                <a:spcPct val="150000"/>
              </a:lnSpc>
            </a:pPr>
            <a:endParaRPr kumimoji="1" lang="ja-JP" altLang="en-US" dirty="0"/>
          </a:p>
        </p:txBody>
      </p:sp>
      <p:sp>
        <p:nvSpPr>
          <p:cNvPr id="6" name="テキスト ボックス 5"/>
          <p:cNvSpPr txBox="1"/>
          <p:nvPr/>
        </p:nvSpPr>
        <p:spPr>
          <a:xfrm>
            <a:off x="422029" y="2980793"/>
            <a:ext cx="11131063" cy="3831818"/>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ja-JP" altLang="en-US" dirty="0" smtClean="0"/>
              <a:t>対象関数格納先</a:t>
            </a:r>
          </a:p>
          <a:p>
            <a:pPr marL="742950" lvl="1" indent="-285750">
              <a:lnSpc>
                <a:spcPct val="150000"/>
              </a:lnSpc>
              <a:buFont typeface="Arial" panose="020B0604020202020204" pitchFamily="34" charset="0"/>
              <a:buChar char="•"/>
            </a:pPr>
            <a:r>
              <a:rPr lang="en-US" altLang="ja-JP" dirty="0" smtClean="0"/>
              <a:t>/trunk/src/sanwa/FastAPI/app/utils/excel_utils.py</a:t>
            </a:r>
          </a:p>
          <a:p>
            <a:pPr marL="742950" lvl="1" indent="-285750">
              <a:lnSpc>
                <a:spcPct val="150000"/>
              </a:lnSpc>
              <a:buFont typeface="Arial" panose="020B0604020202020204" pitchFamily="34" charset="0"/>
              <a:buChar char="•"/>
            </a:pPr>
            <a:endParaRPr kumimoji="1" lang="en-US" altLang="ja-JP" dirty="0"/>
          </a:p>
          <a:p>
            <a:pPr marL="285750" indent="-285750">
              <a:lnSpc>
                <a:spcPct val="150000"/>
              </a:lnSpc>
              <a:buFont typeface="Arial" panose="020B0604020202020204" pitchFamily="34" charset="0"/>
              <a:buChar char="•"/>
            </a:pPr>
            <a:r>
              <a:rPr kumimoji="1" lang="ja-JP" altLang="en-US" dirty="0" smtClean="0"/>
              <a:t>対象関数</a:t>
            </a:r>
            <a:endParaRPr kumimoji="1" lang="en-US" altLang="ja-JP" dirty="0" smtClean="0"/>
          </a:p>
          <a:p>
            <a:pPr marL="742950" lvl="1" indent="-285750">
              <a:lnSpc>
                <a:spcPct val="150000"/>
              </a:lnSpc>
              <a:buFont typeface="Arial" panose="020B0604020202020204" pitchFamily="34" charset="0"/>
              <a:buChar char="•"/>
            </a:pPr>
            <a:r>
              <a:rPr lang="en-US" altLang="ja-JP" dirty="0" err="1" smtClean="0"/>
              <a:t>copy_sheet_settings</a:t>
            </a:r>
            <a:r>
              <a:rPr lang="en-US" altLang="ja-JP" dirty="0" smtClean="0"/>
              <a:t>()</a:t>
            </a:r>
          </a:p>
          <a:p>
            <a:pPr marL="1200150" lvl="2" indent="-285750">
              <a:lnSpc>
                <a:spcPct val="150000"/>
              </a:lnSpc>
              <a:buFont typeface="Arial" panose="020B0604020202020204" pitchFamily="34" charset="0"/>
              <a:buChar char="•"/>
            </a:pPr>
            <a:r>
              <a:rPr lang="ja-JP" altLang="en-US" dirty="0" smtClean="0"/>
              <a:t>テンプレートの設定を生成するシートに継承するための関数です。</a:t>
            </a:r>
            <a:endParaRPr lang="en-US" altLang="ja-JP" dirty="0"/>
          </a:p>
          <a:p>
            <a:pPr marL="742950" lvl="1" indent="-285750">
              <a:lnSpc>
                <a:spcPct val="150000"/>
              </a:lnSpc>
              <a:buFont typeface="Arial" panose="020B0604020202020204" pitchFamily="34" charset="0"/>
              <a:buChar char="•"/>
            </a:pPr>
            <a:r>
              <a:rPr lang="en-US" altLang="ja-JP" dirty="0" err="1" smtClean="0"/>
              <a:t>file_generate_response</a:t>
            </a:r>
            <a:r>
              <a:rPr lang="en-US" altLang="ja-JP" dirty="0" smtClean="0"/>
              <a:t>()</a:t>
            </a:r>
          </a:p>
          <a:p>
            <a:pPr marL="1200150" lvl="2" indent="-285750">
              <a:lnSpc>
                <a:spcPct val="150000"/>
              </a:lnSpc>
              <a:buFont typeface="Arial" panose="020B0604020202020204" pitchFamily="34" charset="0"/>
              <a:buChar char="•"/>
            </a:pPr>
            <a:r>
              <a:rPr lang="ja-JP" altLang="en-US" dirty="0" smtClean="0"/>
              <a:t>フロント側から送られた</a:t>
            </a:r>
            <a:r>
              <a:rPr lang="en-US" altLang="ja-JP" dirty="0" smtClean="0"/>
              <a:t>format</a:t>
            </a:r>
            <a:r>
              <a:rPr lang="ja-JP" altLang="en-US" dirty="0" smtClean="0"/>
              <a:t>情報を元に</a:t>
            </a:r>
            <a:r>
              <a:rPr lang="en-US" altLang="ja-JP" dirty="0" smtClean="0"/>
              <a:t>Excel</a:t>
            </a:r>
            <a:r>
              <a:rPr lang="ja-JP" altLang="en-US" dirty="0" err="1" smtClean="0"/>
              <a:t>、</a:t>
            </a:r>
            <a:r>
              <a:rPr lang="ja-JP" altLang="en-US" dirty="0" smtClean="0"/>
              <a:t>または</a:t>
            </a:r>
            <a:r>
              <a:rPr lang="en-US" altLang="ja-JP" dirty="0" smtClean="0"/>
              <a:t>PDF</a:t>
            </a:r>
            <a:r>
              <a:rPr lang="ja-JP" altLang="en-US" dirty="0" smtClean="0"/>
              <a:t>を出力する関数です。</a:t>
            </a:r>
            <a:endParaRPr lang="en-US" altLang="ja-JP" dirty="0"/>
          </a:p>
          <a:p>
            <a:pPr marL="742950" lvl="1" indent="-285750">
              <a:lnSpc>
                <a:spcPct val="150000"/>
              </a:lnSpc>
              <a:buFont typeface="Arial" panose="020B0604020202020204" pitchFamily="34" charset="0"/>
              <a:buChar char="•"/>
            </a:pPr>
            <a:endParaRPr kumimoji="1" lang="ja-JP" altLang="en-US" dirty="0"/>
          </a:p>
        </p:txBody>
      </p:sp>
    </p:spTree>
    <p:extLst>
      <p:ext uri="{BB962C8B-B14F-4D97-AF65-F5344CB8AC3E}">
        <p14:creationId xmlns:p14="http://schemas.microsoft.com/office/powerpoint/2010/main" val="13141699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p:cNvSpPr txBox="1"/>
          <p:nvPr/>
        </p:nvSpPr>
        <p:spPr>
          <a:xfrm>
            <a:off x="422030" y="378069"/>
            <a:ext cx="3005951" cy="400110"/>
          </a:xfrm>
          <a:prstGeom prst="rect">
            <a:avLst/>
          </a:prstGeom>
          <a:noFill/>
        </p:spPr>
        <p:txBody>
          <a:bodyPr wrap="none" rtlCol="0">
            <a:spAutoFit/>
          </a:bodyPr>
          <a:lstStyle/>
          <a:p>
            <a:r>
              <a:rPr kumimoji="1" lang="ja-JP" altLang="en-US" sz="2000" b="1" dirty="0" smtClean="0"/>
              <a:t>フロントエンド側の設定</a:t>
            </a:r>
            <a:endParaRPr kumimoji="1" lang="en-US" altLang="ja-JP" sz="2000" b="1" dirty="0" smtClean="0"/>
          </a:p>
        </p:txBody>
      </p:sp>
      <p:pic>
        <p:nvPicPr>
          <p:cNvPr id="5" name="図 4"/>
          <p:cNvPicPr>
            <a:picLocks noChangeAspect="1"/>
          </p:cNvPicPr>
          <p:nvPr/>
        </p:nvPicPr>
        <p:blipFill>
          <a:blip r:embed="rId2"/>
          <a:stretch>
            <a:fillRect/>
          </a:stretch>
        </p:blipFill>
        <p:spPr>
          <a:xfrm>
            <a:off x="422030" y="3299077"/>
            <a:ext cx="6801799" cy="3372321"/>
          </a:xfrm>
          <a:prstGeom prst="rect">
            <a:avLst/>
          </a:prstGeom>
        </p:spPr>
      </p:pic>
      <p:pic>
        <p:nvPicPr>
          <p:cNvPr id="7" name="図 6"/>
          <p:cNvPicPr>
            <a:picLocks noChangeAspect="1"/>
          </p:cNvPicPr>
          <p:nvPr/>
        </p:nvPicPr>
        <p:blipFill rotWithShape="1">
          <a:blip r:embed="rId3"/>
          <a:srcRect r="3720"/>
          <a:stretch/>
        </p:blipFill>
        <p:spPr>
          <a:xfrm>
            <a:off x="422030" y="778179"/>
            <a:ext cx="6796455" cy="2314898"/>
          </a:xfrm>
          <a:prstGeom prst="rect">
            <a:avLst/>
          </a:prstGeom>
        </p:spPr>
      </p:pic>
      <p:sp>
        <p:nvSpPr>
          <p:cNvPr id="8" name="正方形/長方形 7"/>
          <p:cNvSpPr/>
          <p:nvPr/>
        </p:nvSpPr>
        <p:spPr>
          <a:xfrm>
            <a:off x="2198077" y="1441937"/>
            <a:ext cx="835269" cy="281355"/>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正方形/長方形 8"/>
          <p:cNvSpPr/>
          <p:nvPr/>
        </p:nvSpPr>
        <p:spPr>
          <a:xfrm>
            <a:off x="2198076" y="2535114"/>
            <a:ext cx="835269" cy="281355"/>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1" name="直線コネクタ 10"/>
          <p:cNvCxnSpPr>
            <a:endCxn id="14" idx="1"/>
          </p:cNvCxnSpPr>
          <p:nvPr/>
        </p:nvCxnSpPr>
        <p:spPr>
          <a:xfrm flipV="1">
            <a:off x="3033346" y="1942811"/>
            <a:ext cx="4685784" cy="738845"/>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2" name="直線コネクタ 11"/>
          <p:cNvCxnSpPr>
            <a:stCxn id="8" idx="3"/>
            <a:endCxn id="14" idx="1"/>
          </p:cNvCxnSpPr>
          <p:nvPr/>
        </p:nvCxnSpPr>
        <p:spPr>
          <a:xfrm>
            <a:off x="3033346" y="1582615"/>
            <a:ext cx="4685784" cy="360196"/>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14" name="テキスト ボックス 13"/>
          <p:cNvSpPr txBox="1"/>
          <p:nvPr/>
        </p:nvSpPr>
        <p:spPr>
          <a:xfrm>
            <a:off x="7719130" y="1065648"/>
            <a:ext cx="4311506" cy="1754326"/>
          </a:xfrm>
          <a:prstGeom prst="rect">
            <a:avLst/>
          </a:prstGeom>
          <a:noFill/>
          <a:ln>
            <a:solidFill>
              <a:srgbClr val="0070C0"/>
            </a:solidFill>
          </a:ln>
        </p:spPr>
        <p:txBody>
          <a:bodyPr wrap="square" rtlCol="0">
            <a:spAutoFit/>
          </a:bodyPr>
          <a:lstStyle/>
          <a:p>
            <a:r>
              <a:rPr kumimoji="1" lang="en-US" altLang="ja-JP" dirty="0" smtClean="0"/>
              <a:t>Excel</a:t>
            </a:r>
            <a:r>
              <a:rPr kumimoji="1" lang="ja-JP" altLang="en-US" dirty="0" smtClean="0"/>
              <a:t>出力・</a:t>
            </a:r>
            <a:r>
              <a:rPr kumimoji="1" lang="en-US" altLang="ja-JP" dirty="0" smtClean="0"/>
              <a:t>PDF</a:t>
            </a:r>
            <a:r>
              <a:rPr kumimoji="1" lang="ja-JP" altLang="en-US" dirty="0" smtClean="0"/>
              <a:t>出力どちらでも共通の関数を呼び出します。</a:t>
            </a:r>
            <a:endParaRPr kumimoji="1" lang="en-US" altLang="ja-JP" dirty="0" smtClean="0"/>
          </a:p>
          <a:p>
            <a:r>
              <a:rPr lang="ja-JP" altLang="en-US" dirty="0"/>
              <a:t>その</a:t>
            </a:r>
            <a:r>
              <a:rPr lang="ja-JP" altLang="en-US" dirty="0" smtClean="0"/>
              <a:t>際、</a:t>
            </a:r>
            <a:r>
              <a:rPr lang="en-US" altLang="ja-JP" dirty="0" smtClean="0"/>
              <a:t>Excel</a:t>
            </a:r>
            <a:r>
              <a:rPr lang="ja-JP" altLang="en-US" dirty="0" smtClean="0"/>
              <a:t>か</a:t>
            </a:r>
            <a:r>
              <a:rPr lang="en-US" altLang="ja-JP" dirty="0" smtClean="0"/>
              <a:t>PDF</a:t>
            </a:r>
            <a:r>
              <a:rPr lang="ja-JP" altLang="en-US" dirty="0" err="1" smtClean="0"/>
              <a:t>かを</a:t>
            </a:r>
            <a:r>
              <a:rPr lang="ja-JP" altLang="en-US" dirty="0" smtClean="0"/>
              <a:t>関数に渡します。</a:t>
            </a:r>
            <a:endParaRPr lang="en-US" altLang="ja-JP" dirty="0" smtClean="0"/>
          </a:p>
          <a:p>
            <a:endParaRPr kumimoji="1" lang="en-US" altLang="ja-JP" dirty="0"/>
          </a:p>
          <a:p>
            <a:r>
              <a:rPr lang="ja-JP" altLang="en-US" dirty="0" smtClean="0"/>
              <a:t>参考：見積</a:t>
            </a:r>
            <a:r>
              <a:rPr lang="en-US" altLang="ja-JP" dirty="0" smtClean="0"/>
              <a:t>/</a:t>
            </a:r>
            <a:r>
              <a:rPr lang="ja-JP" altLang="en-US" dirty="0" smtClean="0"/>
              <a:t>発注　見積書出力</a:t>
            </a:r>
            <a:endParaRPr kumimoji="1" lang="ja-JP" altLang="en-US" dirty="0"/>
          </a:p>
        </p:txBody>
      </p:sp>
      <p:sp>
        <p:nvSpPr>
          <p:cNvPr id="17" name="正方形/長方形 16"/>
          <p:cNvSpPr/>
          <p:nvPr/>
        </p:nvSpPr>
        <p:spPr>
          <a:xfrm>
            <a:off x="1282124" y="6167719"/>
            <a:ext cx="3200228" cy="288422"/>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9" name="カギ線コネクタ 18"/>
          <p:cNvCxnSpPr>
            <a:endCxn id="14" idx="2"/>
          </p:cNvCxnSpPr>
          <p:nvPr/>
        </p:nvCxnSpPr>
        <p:spPr>
          <a:xfrm flipV="1">
            <a:off x="4455459" y="2819974"/>
            <a:ext cx="5419424" cy="3482216"/>
          </a:xfrm>
          <a:prstGeom prst="bentConnector2">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367543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p:cNvSpPr txBox="1"/>
          <p:nvPr/>
        </p:nvSpPr>
        <p:spPr>
          <a:xfrm>
            <a:off x="422030" y="378069"/>
            <a:ext cx="2749471" cy="400110"/>
          </a:xfrm>
          <a:prstGeom prst="rect">
            <a:avLst/>
          </a:prstGeom>
          <a:noFill/>
        </p:spPr>
        <p:txBody>
          <a:bodyPr wrap="none" rtlCol="0">
            <a:spAutoFit/>
          </a:bodyPr>
          <a:lstStyle/>
          <a:p>
            <a:r>
              <a:rPr kumimoji="1" lang="ja-JP" altLang="en-US" sz="2000" b="1" dirty="0" smtClean="0"/>
              <a:t>バックエンド側の設定</a:t>
            </a:r>
            <a:endParaRPr kumimoji="1" lang="en-US" altLang="ja-JP" sz="2000" b="1" dirty="0" smtClean="0"/>
          </a:p>
        </p:txBody>
      </p:sp>
      <p:pic>
        <p:nvPicPr>
          <p:cNvPr id="6" name="図 5"/>
          <p:cNvPicPr>
            <a:picLocks noChangeAspect="1"/>
          </p:cNvPicPr>
          <p:nvPr/>
        </p:nvPicPr>
        <p:blipFill>
          <a:blip r:embed="rId2"/>
          <a:stretch>
            <a:fillRect/>
          </a:stretch>
        </p:blipFill>
        <p:spPr>
          <a:xfrm>
            <a:off x="422030" y="879193"/>
            <a:ext cx="4467849" cy="2715004"/>
          </a:xfrm>
          <a:prstGeom prst="rect">
            <a:avLst/>
          </a:prstGeom>
        </p:spPr>
      </p:pic>
      <p:sp>
        <p:nvSpPr>
          <p:cNvPr id="7" name="正方形/長方形 6"/>
          <p:cNvSpPr/>
          <p:nvPr/>
        </p:nvSpPr>
        <p:spPr>
          <a:xfrm>
            <a:off x="1140241" y="2538619"/>
            <a:ext cx="1710535" cy="37491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8" name="直線コネクタ 7"/>
          <p:cNvCxnSpPr>
            <a:stCxn id="7" idx="3"/>
            <a:endCxn id="9" idx="1"/>
          </p:cNvCxnSpPr>
          <p:nvPr/>
        </p:nvCxnSpPr>
        <p:spPr>
          <a:xfrm flipV="1">
            <a:off x="2850776" y="1388814"/>
            <a:ext cx="4868354" cy="133726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9" name="テキスト ボックス 8"/>
          <p:cNvSpPr txBox="1"/>
          <p:nvPr/>
        </p:nvSpPr>
        <p:spPr>
          <a:xfrm>
            <a:off x="7719130" y="1065648"/>
            <a:ext cx="4311506" cy="646331"/>
          </a:xfrm>
          <a:prstGeom prst="rect">
            <a:avLst/>
          </a:prstGeom>
          <a:noFill/>
          <a:ln>
            <a:solidFill>
              <a:srgbClr val="0070C0"/>
            </a:solidFill>
          </a:ln>
        </p:spPr>
        <p:txBody>
          <a:bodyPr wrap="square" rtlCol="0">
            <a:spAutoFit/>
          </a:bodyPr>
          <a:lstStyle/>
          <a:p>
            <a:r>
              <a:rPr kumimoji="1" lang="ja-JP" altLang="en-US" dirty="0" smtClean="0"/>
              <a:t>シートの設定コピーと出力用の関数を呼び出します。</a:t>
            </a:r>
            <a:endParaRPr kumimoji="1" lang="ja-JP" altLang="en-US" dirty="0"/>
          </a:p>
        </p:txBody>
      </p:sp>
      <p:pic>
        <p:nvPicPr>
          <p:cNvPr id="14" name="図 13"/>
          <p:cNvPicPr>
            <a:picLocks noChangeAspect="1"/>
          </p:cNvPicPr>
          <p:nvPr/>
        </p:nvPicPr>
        <p:blipFill>
          <a:blip r:embed="rId3"/>
          <a:stretch>
            <a:fillRect/>
          </a:stretch>
        </p:blipFill>
        <p:spPr>
          <a:xfrm>
            <a:off x="422030" y="4063334"/>
            <a:ext cx="5963482" cy="1829055"/>
          </a:xfrm>
          <a:prstGeom prst="rect">
            <a:avLst/>
          </a:prstGeom>
        </p:spPr>
      </p:pic>
      <p:sp>
        <p:nvSpPr>
          <p:cNvPr id="15" name="正方形/長方形 14"/>
          <p:cNvSpPr/>
          <p:nvPr/>
        </p:nvSpPr>
        <p:spPr>
          <a:xfrm>
            <a:off x="1460966" y="4678386"/>
            <a:ext cx="4554352" cy="37491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6" name="直線コネクタ 15"/>
          <p:cNvCxnSpPr>
            <a:stCxn id="15" idx="3"/>
            <a:endCxn id="17" idx="1"/>
          </p:cNvCxnSpPr>
          <p:nvPr/>
        </p:nvCxnSpPr>
        <p:spPr>
          <a:xfrm flipV="1">
            <a:off x="6015318" y="4678386"/>
            <a:ext cx="1703812" cy="187455"/>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17" name="テキスト ボックス 16"/>
          <p:cNvSpPr txBox="1"/>
          <p:nvPr/>
        </p:nvSpPr>
        <p:spPr>
          <a:xfrm>
            <a:off x="7719130" y="4355220"/>
            <a:ext cx="4311506" cy="646331"/>
          </a:xfrm>
          <a:prstGeom prst="rect">
            <a:avLst/>
          </a:prstGeom>
          <a:noFill/>
          <a:ln>
            <a:solidFill>
              <a:srgbClr val="0070C0"/>
            </a:solidFill>
          </a:ln>
        </p:spPr>
        <p:txBody>
          <a:bodyPr wrap="square" rtlCol="0">
            <a:spAutoFit/>
          </a:bodyPr>
          <a:lstStyle/>
          <a:p>
            <a:r>
              <a:rPr kumimoji="1" lang="ja-JP" altLang="en-US" dirty="0" smtClean="0"/>
              <a:t>フロント側から出力する</a:t>
            </a:r>
            <a:r>
              <a:rPr kumimoji="1" lang="en-US" altLang="ja-JP" dirty="0" smtClean="0"/>
              <a:t>format</a:t>
            </a:r>
            <a:r>
              <a:rPr kumimoji="1" lang="ja-JP" altLang="en-US" dirty="0" smtClean="0"/>
              <a:t>を受け取り、変数に格納します。</a:t>
            </a:r>
            <a:endParaRPr kumimoji="1" lang="ja-JP" altLang="en-US" dirty="0"/>
          </a:p>
        </p:txBody>
      </p:sp>
    </p:spTree>
    <p:extLst>
      <p:ext uri="{BB962C8B-B14F-4D97-AF65-F5344CB8AC3E}">
        <p14:creationId xmlns:p14="http://schemas.microsoft.com/office/powerpoint/2010/main" val="22895421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図 17"/>
          <p:cNvPicPr>
            <a:picLocks noChangeAspect="1"/>
          </p:cNvPicPr>
          <p:nvPr/>
        </p:nvPicPr>
        <p:blipFill>
          <a:blip r:embed="rId2"/>
          <a:stretch>
            <a:fillRect/>
          </a:stretch>
        </p:blipFill>
        <p:spPr>
          <a:xfrm>
            <a:off x="422030" y="988216"/>
            <a:ext cx="7935432" cy="4858428"/>
          </a:xfrm>
          <a:prstGeom prst="rect">
            <a:avLst/>
          </a:prstGeom>
        </p:spPr>
      </p:pic>
      <p:sp>
        <p:nvSpPr>
          <p:cNvPr id="5" name="テキスト ボックス 4"/>
          <p:cNvSpPr txBox="1"/>
          <p:nvPr/>
        </p:nvSpPr>
        <p:spPr>
          <a:xfrm>
            <a:off x="422030" y="378069"/>
            <a:ext cx="2749471" cy="400110"/>
          </a:xfrm>
          <a:prstGeom prst="rect">
            <a:avLst/>
          </a:prstGeom>
          <a:noFill/>
        </p:spPr>
        <p:txBody>
          <a:bodyPr wrap="none" rtlCol="0">
            <a:spAutoFit/>
          </a:bodyPr>
          <a:lstStyle/>
          <a:p>
            <a:r>
              <a:rPr kumimoji="1" lang="ja-JP" altLang="en-US" sz="2000" b="1" dirty="0" smtClean="0"/>
              <a:t>バックエンド側の設定</a:t>
            </a:r>
            <a:endParaRPr kumimoji="1" lang="en-US" altLang="ja-JP" sz="2000" b="1" dirty="0" smtClean="0"/>
          </a:p>
        </p:txBody>
      </p:sp>
      <p:sp>
        <p:nvSpPr>
          <p:cNvPr id="6" name="正方形/長方形 5"/>
          <p:cNvSpPr/>
          <p:nvPr/>
        </p:nvSpPr>
        <p:spPr>
          <a:xfrm>
            <a:off x="1670979" y="2570260"/>
            <a:ext cx="3465798" cy="37491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7" name="直線コネクタ 6"/>
          <p:cNvCxnSpPr>
            <a:stCxn id="6" idx="3"/>
            <a:endCxn id="8" idx="1"/>
          </p:cNvCxnSpPr>
          <p:nvPr/>
        </p:nvCxnSpPr>
        <p:spPr>
          <a:xfrm flipV="1">
            <a:off x="5136777" y="1449881"/>
            <a:ext cx="3434000" cy="1307834"/>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8" name="テキスト ボックス 7"/>
          <p:cNvSpPr txBox="1"/>
          <p:nvPr/>
        </p:nvSpPr>
        <p:spPr>
          <a:xfrm>
            <a:off x="8570777" y="988216"/>
            <a:ext cx="3423999" cy="923330"/>
          </a:xfrm>
          <a:prstGeom prst="rect">
            <a:avLst/>
          </a:prstGeom>
          <a:noFill/>
          <a:ln>
            <a:solidFill>
              <a:srgbClr val="0070C0"/>
            </a:solidFill>
          </a:ln>
        </p:spPr>
        <p:txBody>
          <a:bodyPr wrap="square" rtlCol="0">
            <a:spAutoFit/>
          </a:bodyPr>
          <a:lstStyle/>
          <a:p>
            <a:r>
              <a:rPr kumimoji="1" lang="ja-JP" altLang="en-US" dirty="0" smtClean="0"/>
              <a:t>シートを作成している部分に、ページ設定を引き継ぐ関数を呼び出します。</a:t>
            </a:r>
            <a:endParaRPr kumimoji="1" lang="ja-JP" altLang="en-US" dirty="0"/>
          </a:p>
        </p:txBody>
      </p:sp>
      <p:sp>
        <p:nvSpPr>
          <p:cNvPr id="13" name="正方形/長方形 12"/>
          <p:cNvSpPr/>
          <p:nvPr/>
        </p:nvSpPr>
        <p:spPr>
          <a:xfrm>
            <a:off x="1670978" y="5285899"/>
            <a:ext cx="4191939" cy="37491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4" name="直線コネクタ 13"/>
          <p:cNvCxnSpPr>
            <a:stCxn id="13" idx="3"/>
            <a:endCxn id="15" idx="1"/>
          </p:cNvCxnSpPr>
          <p:nvPr/>
        </p:nvCxnSpPr>
        <p:spPr>
          <a:xfrm flipV="1">
            <a:off x="5862917" y="3296515"/>
            <a:ext cx="2707860" cy="2176839"/>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15" name="テキスト ボックス 14"/>
          <p:cNvSpPr txBox="1"/>
          <p:nvPr/>
        </p:nvSpPr>
        <p:spPr>
          <a:xfrm>
            <a:off x="8570777" y="2973349"/>
            <a:ext cx="3423999" cy="646331"/>
          </a:xfrm>
          <a:prstGeom prst="rect">
            <a:avLst/>
          </a:prstGeom>
          <a:noFill/>
          <a:ln>
            <a:solidFill>
              <a:srgbClr val="0070C0"/>
            </a:solidFill>
          </a:ln>
        </p:spPr>
        <p:txBody>
          <a:bodyPr wrap="square" rtlCol="0">
            <a:spAutoFit/>
          </a:bodyPr>
          <a:lstStyle/>
          <a:p>
            <a:r>
              <a:rPr kumimoji="1" lang="en-US" altLang="ja-JP" dirty="0" smtClean="0"/>
              <a:t>Format</a:t>
            </a:r>
            <a:r>
              <a:rPr kumimoji="1" lang="ja-JP" altLang="en-US" dirty="0" smtClean="0"/>
              <a:t>変数を元に、</a:t>
            </a:r>
            <a:r>
              <a:rPr kumimoji="1" lang="en-US" altLang="ja-JP" dirty="0" smtClean="0"/>
              <a:t>Excel</a:t>
            </a:r>
            <a:r>
              <a:rPr kumimoji="1" lang="ja-JP" altLang="en-US" dirty="0" smtClean="0"/>
              <a:t>か</a:t>
            </a:r>
            <a:r>
              <a:rPr kumimoji="1" lang="en-US" altLang="ja-JP" dirty="0" smtClean="0"/>
              <a:t>PDF</a:t>
            </a:r>
            <a:r>
              <a:rPr kumimoji="1" lang="ja-JP" altLang="en-US" dirty="0" smtClean="0"/>
              <a:t>を出力します。</a:t>
            </a:r>
            <a:endParaRPr kumimoji="1" lang="ja-JP" altLang="en-US" dirty="0"/>
          </a:p>
        </p:txBody>
      </p:sp>
    </p:spTree>
    <p:extLst>
      <p:ext uri="{BB962C8B-B14F-4D97-AF65-F5344CB8AC3E}">
        <p14:creationId xmlns:p14="http://schemas.microsoft.com/office/powerpoint/2010/main" val="7539071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p:cNvSpPr txBox="1"/>
          <p:nvPr/>
        </p:nvSpPr>
        <p:spPr>
          <a:xfrm>
            <a:off x="422030" y="378069"/>
            <a:ext cx="1863011" cy="400110"/>
          </a:xfrm>
          <a:prstGeom prst="rect">
            <a:avLst/>
          </a:prstGeom>
          <a:noFill/>
        </p:spPr>
        <p:txBody>
          <a:bodyPr wrap="none" rtlCol="0">
            <a:spAutoFit/>
          </a:bodyPr>
          <a:lstStyle/>
          <a:p>
            <a:r>
              <a:rPr kumimoji="1" lang="en-US" altLang="ja-JP" sz="2000" b="1" dirty="0" smtClean="0"/>
              <a:t>Excel</a:t>
            </a:r>
            <a:r>
              <a:rPr kumimoji="1" lang="ja-JP" altLang="en-US" sz="2000" b="1" dirty="0" smtClean="0"/>
              <a:t>側の設定</a:t>
            </a:r>
            <a:endParaRPr kumimoji="1" lang="en-US" altLang="ja-JP" sz="2000" b="1" dirty="0" smtClean="0"/>
          </a:p>
        </p:txBody>
      </p:sp>
      <p:pic>
        <p:nvPicPr>
          <p:cNvPr id="6" name="図 5"/>
          <p:cNvPicPr>
            <a:picLocks noChangeAspect="1"/>
          </p:cNvPicPr>
          <p:nvPr/>
        </p:nvPicPr>
        <p:blipFill>
          <a:blip r:embed="rId2"/>
          <a:stretch>
            <a:fillRect/>
          </a:stretch>
        </p:blipFill>
        <p:spPr>
          <a:xfrm>
            <a:off x="422031" y="778179"/>
            <a:ext cx="5064370" cy="2850517"/>
          </a:xfrm>
          <a:prstGeom prst="rect">
            <a:avLst/>
          </a:prstGeom>
        </p:spPr>
      </p:pic>
      <p:sp>
        <p:nvSpPr>
          <p:cNvPr id="8" name="正方形/長方形 7"/>
          <p:cNvSpPr/>
          <p:nvPr/>
        </p:nvSpPr>
        <p:spPr>
          <a:xfrm>
            <a:off x="1600641" y="988216"/>
            <a:ext cx="684400" cy="295461"/>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9" name="直線コネクタ 8"/>
          <p:cNvCxnSpPr>
            <a:stCxn id="8" idx="3"/>
            <a:endCxn id="10" idx="1"/>
          </p:cNvCxnSpPr>
          <p:nvPr/>
        </p:nvCxnSpPr>
        <p:spPr>
          <a:xfrm>
            <a:off x="2285041" y="1135947"/>
            <a:ext cx="6285736" cy="313934"/>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10" name="テキスト ボックス 9"/>
          <p:cNvSpPr txBox="1"/>
          <p:nvPr/>
        </p:nvSpPr>
        <p:spPr>
          <a:xfrm>
            <a:off x="8570777" y="988216"/>
            <a:ext cx="3423999" cy="923330"/>
          </a:xfrm>
          <a:prstGeom prst="rect">
            <a:avLst/>
          </a:prstGeom>
          <a:noFill/>
          <a:ln>
            <a:solidFill>
              <a:srgbClr val="0070C0"/>
            </a:solidFill>
          </a:ln>
        </p:spPr>
        <p:txBody>
          <a:bodyPr wrap="square" rtlCol="0">
            <a:spAutoFit/>
          </a:bodyPr>
          <a:lstStyle/>
          <a:p>
            <a:r>
              <a:rPr kumimoji="1" lang="ja-JP" altLang="en-US" dirty="0" smtClean="0"/>
              <a:t>シートを作成している部分に、ページ設定を引き継ぐ関数を呼び出します。</a:t>
            </a:r>
            <a:endParaRPr kumimoji="1" lang="ja-JP" altLang="en-US" dirty="0"/>
          </a:p>
        </p:txBody>
      </p:sp>
      <p:pic>
        <p:nvPicPr>
          <p:cNvPr id="13" name="図 12"/>
          <p:cNvPicPr>
            <a:picLocks noChangeAspect="1"/>
          </p:cNvPicPr>
          <p:nvPr/>
        </p:nvPicPr>
        <p:blipFill rotWithShape="1">
          <a:blip r:embed="rId3"/>
          <a:srcRect r="22264" b="78334"/>
          <a:stretch/>
        </p:blipFill>
        <p:spPr>
          <a:xfrm>
            <a:off x="422030" y="3838733"/>
            <a:ext cx="5117124" cy="1603705"/>
          </a:xfrm>
          <a:prstGeom prst="rect">
            <a:avLst/>
          </a:prstGeom>
        </p:spPr>
      </p:pic>
      <p:sp>
        <p:nvSpPr>
          <p:cNvPr id="17" name="正方形/長方形 16"/>
          <p:cNvSpPr/>
          <p:nvPr/>
        </p:nvSpPr>
        <p:spPr>
          <a:xfrm>
            <a:off x="3788030" y="4206388"/>
            <a:ext cx="556405" cy="69208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8" name="直線コネクタ 17"/>
          <p:cNvCxnSpPr>
            <a:stCxn id="17" idx="3"/>
            <a:endCxn id="19" idx="1"/>
          </p:cNvCxnSpPr>
          <p:nvPr/>
        </p:nvCxnSpPr>
        <p:spPr>
          <a:xfrm>
            <a:off x="4344435" y="4552428"/>
            <a:ext cx="2884761"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19" name="テキスト ボックス 18"/>
          <p:cNvSpPr txBox="1"/>
          <p:nvPr/>
        </p:nvSpPr>
        <p:spPr>
          <a:xfrm>
            <a:off x="7229196" y="4090763"/>
            <a:ext cx="4765580" cy="923330"/>
          </a:xfrm>
          <a:prstGeom prst="rect">
            <a:avLst/>
          </a:prstGeom>
          <a:noFill/>
          <a:ln>
            <a:solidFill>
              <a:srgbClr val="0070C0"/>
            </a:solidFill>
          </a:ln>
        </p:spPr>
        <p:txBody>
          <a:bodyPr wrap="square" rtlCol="0">
            <a:spAutoFit/>
          </a:bodyPr>
          <a:lstStyle/>
          <a:p>
            <a:r>
              <a:rPr kumimoji="1" lang="ja-JP" altLang="en-US" dirty="0" smtClean="0"/>
              <a:t>印刷を調整する為、余白・印刷向き・サイズ・印刷範囲・印刷タイトル（ヘッダー）の設定を</a:t>
            </a:r>
            <a:r>
              <a:rPr kumimoji="1" lang="en-US" altLang="ja-JP" dirty="0" smtClean="0"/>
              <a:t>Excel</a:t>
            </a:r>
            <a:r>
              <a:rPr kumimoji="1" lang="ja-JP" altLang="en-US" dirty="0" smtClean="0"/>
              <a:t>から行います。</a:t>
            </a:r>
            <a:endParaRPr kumimoji="1" lang="ja-JP" altLang="en-US" dirty="0"/>
          </a:p>
        </p:txBody>
      </p:sp>
      <p:sp>
        <p:nvSpPr>
          <p:cNvPr id="22" name="正方形/長方形 21"/>
          <p:cNvSpPr/>
          <p:nvPr/>
        </p:nvSpPr>
        <p:spPr>
          <a:xfrm>
            <a:off x="1439871" y="4206388"/>
            <a:ext cx="1586752" cy="69208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23" name="直線コネクタ 22"/>
          <p:cNvCxnSpPr>
            <a:stCxn id="22" idx="3"/>
            <a:endCxn id="17" idx="1"/>
          </p:cNvCxnSpPr>
          <p:nvPr/>
        </p:nvCxnSpPr>
        <p:spPr>
          <a:xfrm>
            <a:off x="3026623" y="4552428"/>
            <a:ext cx="761407"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044728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図 3"/>
          <p:cNvPicPr>
            <a:picLocks noChangeAspect="1"/>
          </p:cNvPicPr>
          <p:nvPr/>
        </p:nvPicPr>
        <p:blipFill rotWithShape="1">
          <a:blip r:embed="rId2"/>
          <a:srcRect b="26001"/>
          <a:stretch/>
        </p:blipFill>
        <p:spPr>
          <a:xfrm>
            <a:off x="422030" y="949808"/>
            <a:ext cx="6582694" cy="5477369"/>
          </a:xfrm>
          <a:prstGeom prst="rect">
            <a:avLst/>
          </a:prstGeom>
        </p:spPr>
      </p:pic>
      <p:sp>
        <p:nvSpPr>
          <p:cNvPr id="5" name="テキスト ボックス 4"/>
          <p:cNvSpPr txBox="1"/>
          <p:nvPr/>
        </p:nvSpPr>
        <p:spPr>
          <a:xfrm>
            <a:off x="422030" y="378069"/>
            <a:ext cx="1863011" cy="400110"/>
          </a:xfrm>
          <a:prstGeom prst="rect">
            <a:avLst/>
          </a:prstGeom>
          <a:noFill/>
        </p:spPr>
        <p:txBody>
          <a:bodyPr wrap="none" rtlCol="0">
            <a:spAutoFit/>
          </a:bodyPr>
          <a:lstStyle/>
          <a:p>
            <a:r>
              <a:rPr kumimoji="1" lang="en-US" altLang="ja-JP" sz="2000" b="1" dirty="0" smtClean="0"/>
              <a:t>Excel</a:t>
            </a:r>
            <a:r>
              <a:rPr kumimoji="1" lang="ja-JP" altLang="en-US" sz="2000" b="1" dirty="0" smtClean="0"/>
              <a:t>側の設定</a:t>
            </a:r>
            <a:endParaRPr kumimoji="1" lang="en-US" altLang="ja-JP" sz="2000" b="1" dirty="0" smtClean="0"/>
          </a:p>
        </p:txBody>
      </p:sp>
      <p:sp>
        <p:nvSpPr>
          <p:cNvPr id="6" name="正方形/長方形 5"/>
          <p:cNvSpPr/>
          <p:nvPr/>
        </p:nvSpPr>
        <p:spPr>
          <a:xfrm>
            <a:off x="1771564" y="4385682"/>
            <a:ext cx="5059541" cy="383542"/>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1" name="直線コネクタ 10"/>
          <p:cNvCxnSpPr>
            <a:stCxn id="6" idx="3"/>
            <a:endCxn id="12" idx="1"/>
          </p:cNvCxnSpPr>
          <p:nvPr/>
        </p:nvCxnSpPr>
        <p:spPr>
          <a:xfrm flipV="1">
            <a:off x="6831105" y="3811479"/>
            <a:ext cx="371198" cy="765974"/>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12" name="テキスト ボックス 11"/>
          <p:cNvSpPr txBox="1"/>
          <p:nvPr/>
        </p:nvSpPr>
        <p:spPr>
          <a:xfrm>
            <a:off x="7202303" y="2934316"/>
            <a:ext cx="4765580" cy="1754326"/>
          </a:xfrm>
          <a:prstGeom prst="rect">
            <a:avLst/>
          </a:prstGeom>
          <a:noFill/>
          <a:ln>
            <a:solidFill>
              <a:srgbClr val="0070C0"/>
            </a:solidFill>
          </a:ln>
        </p:spPr>
        <p:txBody>
          <a:bodyPr wrap="square" rtlCol="0">
            <a:spAutoFit/>
          </a:bodyPr>
          <a:lstStyle/>
          <a:p>
            <a:r>
              <a:rPr kumimoji="1" lang="en-US" altLang="ja-JP" dirty="0" smtClean="0"/>
              <a:t>PDF</a:t>
            </a:r>
            <a:r>
              <a:rPr kumimoji="1" lang="ja-JP" altLang="en-US" dirty="0" smtClean="0"/>
              <a:t>出力する際、各ページで固定出力（ヘッダー）したい箇所などがあればタイトル指定をしてください。</a:t>
            </a:r>
            <a:endParaRPr kumimoji="1" lang="en-US" altLang="ja-JP" dirty="0" smtClean="0"/>
          </a:p>
          <a:p>
            <a:r>
              <a:rPr kumimoji="1" lang="ja-JP" altLang="en-US" dirty="0" smtClean="0"/>
              <a:t>ほか、ページ数なども表示が必要であれば上部タグのヘッダー</a:t>
            </a:r>
            <a:r>
              <a:rPr kumimoji="1" lang="en-US" altLang="ja-JP" dirty="0" smtClean="0"/>
              <a:t>/</a:t>
            </a:r>
            <a:r>
              <a:rPr kumimoji="1" lang="ja-JP" altLang="en-US" dirty="0" smtClean="0"/>
              <a:t>フッターから設定をお願いします。</a:t>
            </a:r>
            <a:endParaRPr kumimoji="1" lang="ja-JP" altLang="en-US" dirty="0"/>
          </a:p>
        </p:txBody>
      </p:sp>
    </p:spTree>
    <p:extLst>
      <p:ext uri="{BB962C8B-B14F-4D97-AF65-F5344CB8AC3E}">
        <p14:creationId xmlns:p14="http://schemas.microsoft.com/office/powerpoint/2010/main" val="16312321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図 3"/>
          <p:cNvPicPr>
            <a:picLocks noChangeAspect="1"/>
          </p:cNvPicPr>
          <p:nvPr/>
        </p:nvPicPr>
        <p:blipFill>
          <a:blip r:embed="rId2"/>
          <a:stretch>
            <a:fillRect/>
          </a:stretch>
        </p:blipFill>
        <p:spPr>
          <a:xfrm>
            <a:off x="403770" y="1046284"/>
            <a:ext cx="7409715" cy="4638365"/>
          </a:xfrm>
          <a:prstGeom prst="rect">
            <a:avLst/>
          </a:prstGeom>
        </p:spPr>
      </p:pic>
      <p:sp>
        <p:nvSpPr>
          <p:cNvPr id="5" name="テキスト ボックス 4"/>
          <p:cNvSpPr txBox="1"/>
          <p:nvPr/>
        </p:nvSpPr>
        <p:spPr>
          <a:xfrm>
            <a:off x="422030" y="378069"/>
            <a:ext cx="1863011" cy="400110"/>
          </a:xfrm>
          <a:prstGeom prst="rect">
            <a:avLst/>
          </a:prstGeom>
          <a:noFill/>
        </p:spPr>
        <p:txBody>
          <a:bodyPr wrap="none" rtlCol="0">
            <a:spAutoFit/>
          </a:bodyPr>
          <a:lstStyle/>
          <a:p>
            <a:r>
              <a:rPr kumimoji="1" lang="en-US" altLang="ja-JP" sz="2000" b="1" dirty="0" smtClean="0"/>
              <a:t>Excel</a:t>
            </a:r>
            <a:r>
              <a:rPr kumimoji="1" lang="ja-JP" altLang="en-US" sz="2000" b="1" dirty="0" smtClean="0"/>
              <a:t>側の設定</a:t>
            </a:r>
            <a:endParaRPr kumimoji="1" lang="en-US" altLang="ja-JP" sz="2000" b="1" dirty="0" smtClean="0"/>
          </a:p>
        </p:txBody>
      </p:sp>
      <p:sp>
        <p:nvSpPr>
          <p:cNvPr id="6" name="正方形/長方形 5"/>
          <p:cNvSpPr/>
          <p:nvPr/>
        </p:nvSpPr>
        <p:spPr>
          <a:xfrm>
            <a:off x="403770" y="3173694"/>
            <a:ext cx="2075661" cy="2374251"/>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7" name="直線コネクタ 6"/>
          <p:cNvCxnSpPr>
            <a:stCxn id="6" idx="3"/>
            <a:endCxn id="8" idx="1"/>
          </p:cNvCxnSpPr>
          <p:nvPr/>
        </p:nvCxnSpPr>
        <p:spPr>
          <a:xfrm flipV="1">
            <a:off x="2479431" y="1507949"/>
            <a:ext cx="5741376" cy="2852871"/>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8" name="テキスト ボックス 7"/>
          <p:cNvSpPr txBox="1"/>
          <p:nvPr/>
        </p:nvSpPr>
        <p:spPr>
          <a:xfrm>
            <a:off x="8220807" y="1046284"/>
            <a:ext cx="3852583" cy="923330"/>
          </a:xfrm>
          <a:prstGeom prst="rect">
            <a:avLst/>
          </a:prstGeom>
          <a:noFill/>
          <a:ln>
            <a:solidFill>
              <a:srgbClr val="0070C0"/>
            </a:solidFill>
          </a:ln>
        </p:spPr>
        <p:txBody>
          <a:bodyPr wrap="square" rtlCol="0">
            <a:spAutoFit/>
          </a:bodyPr>
          <a:lstStyle/>
          <a:p>
            <a:r>
              <a:rPr kumimoji="1" lang="ja-JP" altLang="en-US" dirty="0" smtClean="0"/>
              <a:t>設定をブック全体を印刷にし、</a:t>
            </a:r>
            <a:endParaRPr kumimoji="1" lang="en-US" altLang="ja-JP" dirty="0" smtClean="0"/>
          </a:p>
          <a:p>
            <a:r>
              <a:rPr lang="ja-JP" altLang="en-US" dirty="0" smtClean="0"/>
              <a:t>各ページの設定が想定通りか確認します。</a:t>
            </a:r>
            <a:endParaRPr lang="en-US" altLang="ja-JP" dirty="0" smtClean="0"/>
          </a:p>
        </p:txBody>
      </p:sp>
      <p:cxnSp>
        <p:nvCxnSpPr>
          <p:cNvPr id="13" name="直線コネクタ 12"/>
          <p:cNvCxnSpPr>
            <a:endCxn id="15" idx="1"/>
          </p:cNvCxnSpPr>
          <p:nvPr/>
        </p:nvCxnSpPr>
        <p:spPr>
          <a:xfrm>
            <a:off x="6242538" y="4018085"/>
            <a:ext cx="1978268" cy="914618"/>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15" name="テキスト ボックス 14"/>
          <p:cNvSpPr txBox="1"/>
          <p:nvPr/>
        </p:nvSpPr>
        <p:spPr>
          <a:xfrm>
            <a:off x="8220806" y="3917040"/>
            <a:ext cx="3852583" cy="2031325"/>
          </a:xfrm>
          <a:prstGeom prst="rect">
            <a:avLst/>
          </a:prstGeom>
          <a:noFill/>
          <a:ln>
            <a:solidFill>
              <a:srgbClr val="0070C0"/>
            </a:solidFill>
          </a:ln>
        </p:spPr>
        <p:txBody>
          <a:bodyPr wrap="square" rtlCol="0">
            <a:spAutoFit/>
          </a:bodyPr>
          <a:lstStyle/>
          <a:p>
            <a:r>
              <a:rPr lang="ja-JP" altLang="en-US" dirty="0" smtClean="0"/>
              <a:t>ここのプレビューに出ている状態で</a:t>
            </a:r>
            <a:r>
              <a:rPr lang="en-US" altLang="ja-JP" dirty="0" smtClean="0"/>
              <a:t>PDF</a:t>
            </a:r>
            <a:r>
              <a:rPr lang="ja-JP" altLang="en-US" dirty="0" smtClean="0"/>
              <a:t>が出力されるので想定通りか確認をお願いします。</a:t>
            </a:r>
            <a:endParaRPr lang="en-US" altLang="ja-JP" dirty="0" smtClean="0"/>
          </a:p>
          <a:p>
            <a:r>
              <a:rPr lang="ja-JP" altLang="en-US" dirty="0"/>
              <a:t>データ</a:t>
            </a:r>
            <a:r>
              <a:rPr lang="ja-JP" altLang="en-US" dirty="0" smtClean="0"/>
              <a:t>を入れて確認したい場合は、まず</a:t>
            </a:r>
            <a:r>
              <a:rPr lang="en-US" altLang="ja-JP" dirty="0" smtClean="0"/>
              <a:t>Excel</a:t>
            </a:r>
            <a:r>
              <a:rPr lang="ja-JP" altLang="en-US" dirty="0" smtClean="0"/>
              <a:t>をプリザンターから出力し、その</a:t>
            </a:r>
            <a:r>
              <a:rPr lang="en-US" altLang="ja-JP" dirty="0" smtClean="0"/>
              <a:t>Excel</a:t>
            </a:r>
            <a:r>
              <a:rPr lang="ja-JP" altLang="en-US" dirty="0" smtClean="0"/>
              <a:t>から印刷で</a:t>
            </a:r>
            <a:r>
              <a:rPr lang="en-US" altLang="ja-JP" dirty="0" smtClean="0"/>
              <a:t>PDF</a:t>
            </a:r>
            <a:r>
              <a:rPr lang="ja-JP" altLang="en-US" dirty="0" smtClean="0"/>
              <a:t>をプレビューして確認をお願いします。</a:t>
            </a:r>
            <a:endParaRPr lang="en-US" altLang="ja-JP" dirty="0" smtClean="0"/>
          </a:p>
        </p:txBody>
      </p:sp>
      <p:sp>
        <p:nvSpPr>
          <p:cNvPr id="18" name="テキスト ボックス 17"/>
          <p:cNvSpPr txBox="1"/>
          <p:nvPr/>
        </p:nvSpPr>
        <p:spPr>
          <a:xfrm>
            <a:off x="422030" y="6312080"/>
            <a:ext cx="8607670" cy="369332"/>
          </a:xfrm>
          <a:prstGeom prst="rect">
            <a:avLst/>
          </a:prstGeom>
          <a:noFill/>
          <a:ln>
            <a:solidFill>
              <a:srgbClr val="0070C0"/>
            </a:solidFill>
          </a:ln>
        </p:spPr>
        <p:txBody>
          <a:bodyPr wrap="square" rtlCol="0">
            <a:spAutoFit/>
          </a:bodyPr>
          <a:lstStyle/>
          <a:p>
            <a:r>
              <a:rPr lang="ja-JP" altLang="en-US" dirty="0"/>
              <a:t>以上</a:t>
            </a:r>
            <a:r>
              <a:rPr lang="ja-JP" altLang="en-US" dirty="0" smtClean="0"/>
              <a:t>の設定で、</a:t>
            </a:r>
            <a:r>
              <a:rPr lang="en-US" altLang="ja-JP" dirty="0" smtClean="0"/>
              <a:t>Excel</a:t>
            </a:r>
            <a:r>
              <a:rPr lang="ja-JP" altLang="en-US" dirty="0"/>
              <a:t>から</a:t>
            </a:r>
            <a:r>
              <a:rPr lang="ja-JP" altLang="en-US" dirty="0" smtClean="0"/>
              <a:t>の</a:t>
            </a:r>
            <a:r>
              <a:rPr lang="en-US" altLang="ja-JP" dirty="0" smtClean="0"/>
              <a:t>PDF</a:t>
            </a:r>
            <a:r>
              <a:rPr lang="ja-JP" altLang="en-US" dirty="0" smtClean="0"/>
              <a:t>出力をプリザンターから行えるようになります。</a:t>
            </a:r>
            <a:endParaRPr lang="en-US" altLang="ja-JP" dirty="0" smtClean="0"/>
          </a:p>
        </p:txBody>
      </p:sp>
    </p:spTree>
    <p:extLst>
      <p:ext uri="{BB962C8B-B14F-4D97-AF65-F5344CB8AC3E}">
        <p14:creationId xmlns:p14="http://schemas.microsoft.com/office/powerpoint/2010/main" val="32466499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図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22029" y="700720"/>
            <a:ext cx="6851607" cy="5730950"/>
          </a:xfrm>
          <a:prstGeom prst="rect">
            <a:avLst/>
          </a:prstGeom>
        </p:spPr>
      </p:pic>
      <p:sp>
        <p:nvSpPr>
          <p:cNvPr id="5" name="テキスト ボックス 4"/>
          <p:cNvSpPr txBox="1"/>
          <p:nvPr/>
        </p:nvSpPr>
        <p:spPr>
          <a:xfrm>
            <a:off x="422030" y="378069"/>
            <a:ext cx="184731" cy="400110"/>
          </a:xfrm>
          <a:prstGeom prst="rect">
            <a:avLst/>
          </a:prstGeom>
          <a:noFill/>
        </p:spPr>
        <p:txBody>
          <a:bodyPr wrap="none" rtlCol="0">
            <a:spAutoFit/>
          </a:bodyPr>
          <a:lstStyle/>
          <a:p>
            <a:endParaRPr kumimoji="1" lang="en-US" altLang="ja-JP" sz="2000" b="1" dirty="0" smtClean="0"/>
          </a:p>
        </p:txBody>
      </p:sp>
      <p:cxnSp>
        <p:nvCxnSpPr>
          <p:cNvPr id="7" name="直線コネクタ 6"/>
          <p:cNvCxnSpPr>
            <a:endCxn id="15" idx="1"/>
          </p:cNvCxnSpPr>
          <p:nvPr/>
        </p:nvCxnSpPr>
        <p:spPr>
          <a:xfrm flipV="1">
            <a:off x="2734887" y="2149554"/>
            <a:ext cx="4368521" cy="2289442"/>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15" name="テキスト ボックス 14"/>
          <p:cNvSpPr txBox="1"/>
          <p:nvPr/>
        </p:nvSpPr>
        <p:spPr>
          <a:xfrm>
            <a:off x="7103408" y="1133891"/>
            <a:ext cx="3852583" cy="2031325"/>
          </a:xfrm>
          <a:prstGeom prst="rect">
            <a:avLst/>
          </a:prstGeom>
          <a:noFill/>
          <a:ln>
            <a:solidFill>
              <a:srgbClr val="0070C0"/>
            </a:solidFill>
          </a:ln>
        </p:spPr>
        <p:txBody>
          <a:bodyPr wrap="square" rtlCol="0">
            <a:spAutoFit/>
          </a:bodyPr>
          <a:lstStyle/>
          <a:p>
            <a:r>
              <a:rPr lang="en-US" altLang="ja-JP" dirty="0"/>
              <a:t>excel</a:t>
            </a:r>
            <a:r>
              <a:rPr lang="ja-JP" altLang="en-US" dirty="0"/>
              <a:t>のページ設定　余白に合わせて設置がテンプレートから複製時勝手にチェックが入ってしまう不具合が確認できています。</a:t>
            </a:r>
            <a:r>
              <a:rPr lang="ja-JP" altLang="en-US" dirty="0"/>
              <a:t/>
            </a:r>
            <a:br>
              <a:rPr lang="ja-JP" altLang="en-US" dirty="0"/>
            </a:br>
            <a:r>
              <a:rPr lang="ja-JP" altLang="en-US" dirty="0"/>
              <a:t>これのせいで</a:t>
            </a:r>
            <a:r>
              <a:rPr lang="en-US" altLang="ja-JP" dirty="0"/>
              <a:t>PDF</a:t>
            </a:r>
            <a:r>
              <a:rPr lang="ja-JP" altLang="en-US" dirty="0"/>
              <a:t>出力時ページ表記が必要な場合位置がずれてしまうという課題があります。</a:t>
            </a:r>
            <a:endParaRPr lang="en-US" altLang="ja-JP" dirty="0" smtClean="0"/>
          </a:p>
        </p:txBody>
      </p:sp>
      <p:sp>
        <p:nvSpPr>
          <p:cNvPr id="16" name="テキスト ボックス 15"/>
          <p:cNvSpPr txBox="1"/>
          <p:nvPr/>
        </p:nvSpPr>
        <p:spPr>
          <a:xfrm>
            <a:off x="422030" y="378069"/>
            <a:ext cx="1210588" cy="400110"/>
          </a:xfrm>
          <a:prstGeom prst="rect">
            <a:avLst/>
          </a:prstGeom>
          <a:noFill/>
        </p:spPr>
        <p:txBody>
          <a:bodyPr wrap="none" rtlCol="0">
            <a:spAutoFit/>
          </a:bodyPr>
          <a:lstStyle/>
          <a:p>
            <a:r>
              <a:rPr kumimoji="1" lang="ja-JP" altLang="en-US" sz="2000" b="1" smtClean="0"/>
              <a:t>留意事項</a:t>
            </a:r>
            <a:endParaRPr kumimoji="1" lang="en-US" altLang="ja-JP" sz="2000" b="1" dirty="0" smtClean="0"/>
          </a:p>
        </p:txBody>
      </p:sp>
    </p:spTree>
    <p:extLst>
      <p:ext uri="{BB962C8B-B14F-4D97-AF65-F5344CB8AC3E}">
        <p14:creationId xmlns:p14="http://schemas.microsoft.com/office/powerpoint/2010/main" val="3063397905"/>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955</TotalTime>
  <Words>442</Words>
  <Application>Microsoft Office PowerPoint</Application>
  <PresentationFormat>ワイド画面</PresentationFormat>
  <Paragraphs>36</Paragraphs>
  <Slides>8</Slides>
  <Notes>0</Notes>
  <HiddenSlides>0</HiddenSlides>
  <MMClips>0</MMClips>
  <ScaleCrop>false</ScaleCrop>
  <HeadingPairs>
    <vt:vector size="6" baseType="variant">
      <vt:variant>
        <vt:lpstr>使用されているフォント</vt:lpstr>
      </vt:variant>
      <vt:variant>
        <vt:i4>3</vt:i4>
      </vt:variant>
      <vt:variant>
        <vt:lpstr>テーマ</vt:lpstr>
      </vt:variant>
      <vt:variant>
        <vt:i4>1</vt:i4>
      </vt:variant>
      <vt:variant>
        <vt:lpstr>スライド タイトル</vt:lpstr>
      </vt:variant>
      <vt:variant>
        <vt:i4>8</vt:i4>
      </vt:variant>
    </vt:vector>
  </HeadingPairs>
  <TitlesOfParts>
    <vt:vector size="12" baseType="lpstr">
      <vt:lpstr>游ゴシック</vt:lpstr>
      <vt:lpstr>游ゴシック Light</vt:lpstr>
      <vt:lpstr>Arial</vt:lpstr>
      <vt:lpstr>Office テーマ</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NT-190016</dc:creator>
  <cp:lastModifiedBy>NT-210174</cp:lastModifiedBy>
  <cp:revision>26</cp:revision>
  <dcterms:created xsi:type="dcterms:W3CDTF">2025-01-14T06:18:30Z</dcterms:created>
  <dcterms:modified xsi:type="dcterms:W3CDTF">2025-01-15T22:24:07Z</dcterms:modified>
</cp:coreProperties>
</file>