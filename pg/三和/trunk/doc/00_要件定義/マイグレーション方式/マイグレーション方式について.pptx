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6" r:id="rId6"/>
    <p:sldId id="265" r:id="rId7"/>
    <p:sldId id="267" r:id="rId8"/>
    <p:sldId id="268" r:id="rId9"/>
    <p:sldId id="258" r:id="rId10"/>
    <p:sldId id="262" r:id="rId11"/>
    <p:sldId id="263" r:id="rId12"/>
    <p:sldId id="275" r:id="rId13"/>
    <p:sldId id="264" r:id="rId14"/>
    <p:sldId id="271" r:id="rId15"/>
    <p:sldId id="273" r:id="rId16"/>
    <p:sldId id="272" r:id="rId17"/>
    <p:sldId id="274" r:id="rId18"/>
    <p:sldId id="260" r:id="rId19"/>
  </p:sldIdLst>
  <p:sldSz cx="12192000" cy="6858000"/>
  <p:notesSz cx="6858000" cy="9144000"/>
  <p:defaultTextStyle>
    <a:defPPr rtl="0">
      <a:defRPr lang="ja-jp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48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1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F087AC2-CC36-4B3E-B11B-21E0DB914F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2DC003-181F-4CD6-BE37-7A60AA76C1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2D953-0B32-4973-8376-B62845451436}" type="datetime5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2024/03/28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494C63-A99E-4FBB-906E-9D4B621B0D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7AFE-6062-4629-A308-265F8066A3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52014-BD28-44C0-B4D4-71534AC9B6F9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8351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E25AF5E-5DB9-4FB2-ABA3-52230F77190E}" type="datetime5">
              <a:rPr kumimoji="1" lang="ja-JP" altLang="en-US" smtClean="0"/>
              <a:t>2024/03/28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noProof="0"/>
              <a:t>マスター テキストの書式設定</a:t>
            </a:r>
          </a:p>
          <a:p>
            <a:pPr lvl="1"/>
            <a:r>
              <a:rPr kumimoji="1" lang="ja-JP" altLang="en-US" noProof="0"/>
              <a:t>第 </a:t>
            </a:r>
            <a:r>
              <a:rPr kumimoji="1" lang="en-US" altLang="ja-JP" noProof="0"/>
              <a:t>2 </a:t>
            </a:r>
            <a:r>
              <a:rPr kumimoji="1" lang="ja-JP" altLang="en-US" noProof="0"/>
              <a:t>レベル</a:t>
            </a:r>
          </a:p>
          <a:p>
            <a:pPr lvl="2"/>
            <a:r>
              <a:rPr kumimoji="1" lang="ja-JP" altLang="en-US" noProof="0"/>
              <a:t>第 </a:t>
            </a:r>
            <a:r>
              <a:rPr kumimoji="1" lang="en-US" altLang="ja-JP" noProof="0"/>
              <a:t>3 </a:t>
            </a:r>
            <a:r>
              <a:rPr kumimoji="1" lang="ja-JP" altLang="en-US" noProof="0"/>
              <a:t>レベル</a:t>
            </a:r>
          </a:p>
          <a:p>
            <a:pPr lvl="3"/>
            <a:r>
              <a:rPr kumimoji="1" lang="ja-JP" altLang="en-US" noProof="0"/>
              <a:t>第 </a:t>
            </a:r>
            <a:r>
              <a:rPr kumimoji="1" lang="en-US" altLang="ja-JP" noProof="0"/>
              <a:t>4 </a:t>
            </a:r>
            <a:r>
              <a:rPr kumimoji="1" lang="ja-JP" altLang="en-US" noProof="0"/>
              <a:t>レベル</a:t>
            </a:r>
          </a:p>
          <a:p>
            <a:pPr lvl="4"/>
            <a:r>
              <a:rPr kumimoji="1" lang="ja-JP" altLang="en-US" noProof="0"/>
              <a:t>第 </a:t>
            </a:r>
            <a:r>
              <a:rPr kumimoji="1" lang="en-US" altLang="ja-JP" noProof="0"/>
              <a:t>5 </a:t>
            </a:r>
            <a:r>
              <a:rPr kumimoji="1"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435B119-9FF5-4568-9B65-4B3563591761}" type="slidenum">
              <a:rPr kumimoji="1" lang="en-US" altLang="ja-JP" noProof="0" smtClean="0"/>
              <a:pPr/>
              <a:t>‹#›</a:t>
            </a:fld>
            <a:endParaRPr kumimoji="1"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303156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9571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8364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10742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075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9050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0266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3058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09948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8187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8877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9478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2943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2572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8923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2610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長方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lang="ja-JP" altLang="en-US" noProof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55A81C4-D811-47A9-A16F-7B903AB0DF35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長方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EA5C0-5361-4953-95B0-3DD2B2BA6629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長方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FAFC254-C091-41E7-ACAA-664E4CFFB034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長方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F33724-33B4-4BFA-BE59-712B72CE7D10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長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タイトル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18BB-D620-42CE-AEC2-5EA9A43FAA16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787E9E-4199-4D2B-A359-74FF0919C715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長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D951F-A49D-4FC4-A8C7-EB58BF3234FC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長方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CCB262F-C7B4-4EE2-9F60-8730F3EF593B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キャプション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図プレースホルダー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 dirty="0"/>
              <a:t>アイコンをクリックして写真を追加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949338-CF6A-4A9B-9D36-FA472B40DCB9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長方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タイトル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EF0213-2579-4340-A715-6D4B8F0ACC5F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長方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lang="ja-JP" altLang="en-US" noProof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ja-JP" altLang="en-US" noProof="0" dirty="0"/>
              <a:t>マスター テキストのスタイルを編集する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9442437-74F0-446C-954B-E9713E2ADF2C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9DAA9FD-D334-478A-8FD2-99271AF9FEDD}" type="datetime5">
              <a:rPr lang="ja-JP" altLang="en-US" noProof="0" smtClean="0"/>
              <a:t>2024/03/28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9" name="長方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長方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長方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6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escius.jp/help/spread-winforms-migrationguide-15/ActiveX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escius.jp/help/spread-winforms-migrationguide-15/ActiveX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長方形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画像 6" descr="デジタル接続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グループ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長方形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長方形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長方形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長方形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976697"/>
            <a:ext cx="10993549" cy="490547"/>
          </a:xfrm>
        </p:spPr>
        <p:txBody>
          <a:bodyPr rtlCol="0">
            <a:noAutofit/>
          </a:bodyPr>
          <a:lstStyle/>
          <a:p>
            <a:pPr rtl="0"/>
            <a:r>
              <a:rPr lang="ja-JP" altLang="en-US" sz="3200" dirty="0" smtClean="0">
                <a:solidFill>
                  <a:schemeClr val="bg1"/>
                </a:solidFill>
              </a:rPr>
              <a:t>マイグレーション方式について</a:t>
            </a:r>
            <a:endParaRPr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ja-JP" altLang="en-US" dirty="0">
                <a:solidFill>
                  <a:srgbClr val="7CEBFF"/>
                </a:solidFill>
              </a:rPr>
              <a:t>三和商研 様 「積算販売管理システム」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ja-JP" altLang="en-US" dirty="0" smtClean="0"/>
              <a:t>移行方式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r>
              <a:rPr lang="en-US" altLang="ja-JP" dirty="0" smtClean="0"/>
              <a:t>1.</a:t>
            </a:r>
            <a:r>
              <a:rPr lang="ja-JP" altLang="en-US" dirty="0" smtClean="0"/>
              <a:t>データベース</a:t>
            </a:r>
            <a:r>
              <a:rPr lang="ja-JP" altLang="en-US" dirty="0"/>
              <a:t>の移行</a:t>
            </a:r>
            <a:r>
              <a:rPr lang="ja-JP" altLang="en-US" dirty="0" smtClean="0"/>
              <a:t>方式</a:t>
            </a:r>
            <a:endParaRPr lang="en-US" altLang="ja-JP" dirty="0" smtClean="0"/>
          </a:p>
          <a:p>
            <a:r>
              <a:rPr lang="en-US" altLang="ja-JP" dirty="0" smtClean="0"/>
              <a:t>2.</a:t>
            </a:r>
            <a:r>
              <a:rPr lang="ja-JP" altLang="en-US" dirty="0" smtClean="0"/>
              <a:t>ソース </a:t>
            </a:r>
            <a:r>
              <a:rPr lang="ja-JP" altLang="en-US" dirty="0"/>
              <a:t>マイグレーション方式の</a:t>
            </a:r>
            <a:r>
              <a:rPr lang="ja-JP" altLang="en-US" dirty="0" smtClean="0"/>
              <a:t>調査</a:t>
            </a:r>
            <a:endParaRPr lang="en-US" altLang="ja-JP" dirty="0" smtClean="0"/>
          </a:p>
          <a:p>
            <a:r>
              <a:rPr lang="en-US" altLang="ja-JP" dirty="0" smtClean="0"/>
              <a:t>3.</a:t>
            </a:r>
            <a:r>
              <a:rPr lang="ja-JP" altLang="en-US" dirty="0" smtClean="0"/>
              <a:t>ソース </a:t>
            </a:r>
            <a:r>
              <a:rPr lang="ja-JP" altLang="en-US" dirty="0"/>
              <a:t>マイグレーションツールの作成検討</a:t>
            </a:r>
            <a:endParaRPr kumimoji="1" lang="en-US" altLang="ja-JP" dirty="0" smtClean="0"/>
          </a:p>
          <a:p>
            <a:r>
              <a:rPr lang="en-US" altLang="ja-JP" dirty="0" smtClean="0"/>
              <a:t>4.</a:t>
            </a:r>
            <a:r>
              <a:rPr lang="ja-JP" altLang="en-US" dirty="0" smtClean="0"/>
              <a:t>ソース </a:t>
            </a:r>
            <a:r>
              <a:rPr lang="ja-JP" altLang="en-US" dirty="0"/>
              <a:t>手修正の変換ルール・修正割合の</a:t>
            </a:r>
            <a:r>
              <a:rPr lang="ja-JP" altLang="en-US" dirty="0" smtClean="0"/>
              <a:t>検討</a:t>
            </a:r>
            <a:endParaRPr lang="en-US" altLang="ja-JP" dirty="0" smtClean="0"/>
          </a:p>
          <a:p>
            <a:r>
              <a:rPr lang="en-US" altLang="ja-JP" dirty="0" smtClean="0"/>
              <a:t>5.</a:t>
            </a:r>
            <a:r>
              <a:rPr lang="ja-JP" altLang="en-US" dirty="0" smtClean="0"/>
              <a:t>ソース </a:t>
            </a:r>
            <a:r>
              <a:rPr lang="ja-JP" altLang="en-US" dirty="0"/>
              <a:t>マイグレーション方式の決定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1344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1.</a:t>
            </a:r>
            <a:r>
              <a:rPr lang="ja-JP" altLang="en-US" dirty="0"/>
              <a:t>データベースの移行方式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111433"/>
            <a:ext cx="11029616" cy="4364182"/>
          </a:xfrm>
        </p:spPr>
        <p:txBody>
          <a:bodyPr>
            <a:normAutofit/>
          </a:bodyPr>
          <a:lstStyle/>
          <a:p>
            <a:r>
              <a:rPr kumimoji="1" lang="en-US" altLang="ja-JP" dirty="0" smtClean="0"/>
              <a:t>SQL Server 2022</a:t>
            </a:r>
            <a:r>
              <a:rPr kumimoji="1" lang="ja-JP" altLang="en-US" dirty="0" smtClean="0"/>
              <a:t>へ移行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テーブル</a:t>
            </a:r>
            <a:r>
              <a:rPr lang="en-US" altLang="ja-JP" dirty="0" smtClean="0"/>
              <a:t>,</a:t>
            </a:r>
            <a:r>
              <a:rPr lang="en-US" altLang="ja-JP" dirty="0" err="1" smtClean="0"/>
              <a:t>View,SP,Function</a:t>
            </a:r>
            <a:r>
              <a:rPr lang="ja-JP" altLang="en-US" dirty="0" smtClean="0"/>
              <a:t>定義</a:t>
            </a:r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kumimoji="1" lang="ja-JP" altLang="en-US" dirty="0"/>
          </a:p>
        </p:txBody>
      </p:sp>
      <p:pic>
        <p:nvPicPr>
          <p:cNvPr id="4" name="図 3" descr="sql-server-20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823" y="2583841"/>
            <a:ext cx="2247467" cy="74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 descr="SQL Server 20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790" y="2468508"/>
            <a:ext cx="1893916" cy="85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 descr="ロゴ&#10;&#10;自動的に生成された説明">
            <a:extLst>
              <a:ext uri="{FF2B5EF4-FFF2-40B4-BE49-F238E27FC236}">
                <a16:creationId xmlns:a16="http://schemas.microsoft.com/office/drawing/2014/main" id="{0768502B-C8D5-4D36-9B3A-F8807970A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206" y="2750096"/>
            <a:ext cx="1920987" cy="342237"/>
          </a:xfrm>
          <a:prstGeom prst="rect">
            <a:avLst/>
          </a:prstGeom>
        </p:spPr>
      </p:pic>
      <p:sp>
        <p:nvSpPr>
          <p:cNvPr id="7" name="下矢印 6"/>
          <p:cNvSpPr/>
          <p:nvPr/>
        </p:nvSpPr>
        <p:spPr>
          <a:xfrm rot="16200000">
            <a:off x="4254690" y="2570591"/>
            <a:ext cx="377699" cy="768163"/>
          </a:xfrm>
          <a:prstGeom prst="down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下矢印 7"/>
          <p:cNvSpPr/>
          <p:nvPr/>
        </p:nvSpPr>
        <p:spPr>
          <a:xfrm rot="16200000">
            <a:off x="7471106" y="2554864"/>
            <a:ext cx="377699" cy="768163"/>
          </a:xfrm>
          <a:prstGeom prst="down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64071"/>
              </p:ext>
            </p:extLst>
          </p:nvPr>
        </p:nvGraphicFramePr>
        <p:xfrm>
          <a:off x="1534823" y="4223280"/>
          <a:ext cx="88394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602">
                  <a:extLst>
                    <a:ext uri="{9D8B030D-6E8A-4147-A177-3AD203B41FA5}">
                      <a16:colId xmlns:a16="http://schemas.microsoft.com/office/drawing/2014/main" val="1891101272"/>
                    </a:ext>
                  </a:extLst>
                </a:gridCol>
                <a:gridCol w="1823130">
                  <a:extLst>
                    <a:ext uri="{9D8B030D-6E8A-4147-A177-3AD203B41FA5}">
                      <a16:colId xmlns:a16="http://schemas.microsoft.com/office/drawing/2014/main" val="1869703441"/>
                    </a:ext>
                  </a:extLst>
                </a:gridCol>
                <a:gridCol w="2209866">
                  <a:extLst>
                    <a:ext uri="{9D8B030D-6E8A-4147-A177-3AD203B41FA5}">
                      <a16:colId xmlns:a16="http://schemas.microsoft.com/office/drawing/2014/main" val="3460164034"/>
                    </a:ext>
                  </a:extLst>
                </a:gridCol>
                <a:gridCol w="2209866">
                  <a:extLst>
                    <a:ext uri="{9D8B030D-6E8A-4147-A177-3AD203B41FA5}">
                      <a16:colId xmlns:a16="http://schemas.microsoft.com/office/drawing/2014/main" val="229804898"/>
                    </a:ext>
                  </a:extLst>
                </a:gridCol>
              </a:tblGrid>
              <a:tr h="311011"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SQL</a:t>
                      </a:r>
                      <a:r>
                        <a:rPr kumimoji="1" lang="en-US" altLang="ja-JP" baseline="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Server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移行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Pleasanter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移行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150170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テーブル定義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111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見積以外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7354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View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定義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見積以外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48124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ストアドプロシージャ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264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共通・見積機能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Javascript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等へ移行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099778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ファンクション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共通・見積機能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Javascript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等へ移行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139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353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1.</a:t>
            </a:r>
            <a:r>
              <a:rPr lang="ja-JP" altLang="en-US" dirty="0"/>
              <a:t>データベースの移行方式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111433"/>
            <a:ext cx="11029616" cy="4364182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テーブルデータ移行</a:t>
            </a:r>
            <a:endParaRPr lang="en-US" altLang="ja-JP" dirty="0" smtClean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kumimoji="1" lang="en-US" altLang="ja-JP" dirty="0" smtClean="0"/>
          </a:p>
          <a:p>
            <a:pPr marL="0" indent="0">
              <a:buNone/>
            </a:pPr>
            <a:r>
              <a:rPr kumimoji="1" lang="ja-JP" altLang="en-US" dirty="0" smtClean="0"/>
              <a:t>　　　　　</a:t>
            </a:r>
            <a:r>
              <a:rPr lang="en-US" altLang="ja-JP" dirty="0" smtClean="0"/>
              <a:t>※</a:t>
            </a:r>
            <a:r>
              <a:rPr lang="ja-JP" altLang="en-US" dirty="0" smtClean="0"/>
              <a:t>既存データ量の調査は別途行う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　　　</a:t>
            </a:r>
            <a:r>
              <a:rPr lang="en-US" altLang="ja-JP" dirty="0" smtClean="0"/>
              <a:t>※</a:t>
            </a:r>
            <a:r>
              <a:rPr lang="ja-JP" altLang="en-US" dirty="0" smtClean="0"/>
              <a:t>トランザクションデータ・</a:t>
            </a:r>
            <a:r>
              <a:rPr lang="en-US" altLang="ja-JP" dirty="0" smtClean="0"/>
              <a:t>Temp/Work</a:t>
            </a:r>
            <a:r>
              <a:rPr lang="ja-JP" altLang="en-US" dirty="0" smtClean="0"/>
              <a:t>データの移行タイミングは別途検討を行う</a:t>
            </a:r>
            <a:endParaRPr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226049"/>
              </p:ext>
            </p:extLst>
          </p:nvPr>
        </p:nvGraphicFramePr>
        <p:xfrm>
          <a:off x="1396538" y="2648018"/>
          <a:ext cx="9011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3077">
                  <a:extLst>
                    <a:ext uri="{9D8B030D-6E8A-4147-A177-3AD203B41FA5}">
                      <a16:colId xmlns:a16="http://schemas.microsoft.com/office/drawing/2014/main" val="1891101272"/>
                    </a:ext>
                  </a:extLst>
                </a:gridCol>
                <a:gridCol w="1712423">
                  <a:extLst>
                    <a:ext uri="{9D8B030D-6E8A-4147-A177-3AD203B41FA5}">
                      <a16:colId xmlns:a16="http://schemas.microsoft.com/office/drawing/2014/main" val="1869703441"/>
                    </a:ext>
                  </a:extLst>
                </a:gridCol>
                <a:gridCol w="2252750">
                  <a:extLst>
                    <a:ext uri="{9D8B030D-6E8A-4147-A177-3AD203B41FA5}">
                      <a16:colId xmlns:a16="http://schemas.microsoft.com/office/drawing/2014/main" val="3460164034"/>
                    </a:ext>
                  </a:extLst>
                </a:gridCol>
                <a:gridCol w="2252750">
                  <a:extLst>
                    <a:ext uri="{9D8B030D-6E8A-4147-A177-3AD203B41FA5}">
                      <a16:colId xmlns:a16="http://schemas.microsoft.com/office/drawing/2014/main" val="229804898"/>
                    </a:ext>
                  </a:extLst>
                </a:gridCol>
              </a:tblGrid>
              <a:tr h="3110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分類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SQL</a:t>
                      </a:r>
                      <a:r>
                        <a:rPr kumimoji="1" lang="en-US" altLang="ja-JP" baseline="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Server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移行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Pleasanter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移行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150170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マスターテーブル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55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見積以外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7354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TRANS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44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見積以外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48124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Temp/Work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見積以外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099778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共通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-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139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08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2.</a:t>
            </a:r>
            <a:r>
              <a:rPr lang="ja-JP" altLang="en-US" dirty="0"/>
              <a:t>ソース マイグレーション方式の調査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111433"/>
            <a:ext cx="11029616" cy="4505498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システム方式</a:t>
            </a:r>
            <a:endParaRPr lang="en-US" altLang="ja-JP" dirty="0" smtClean="0"/>
          </a:p>
          <a:p>
            <a:r>
              <a:rPr lang="ja-JP" altLang="en-US" dirty="0" smtClean="0"/>
              <a:t>　　　クライアント</a:t>
            </a:r>
            <a:r>
              <a:rPr lang="en-US" altLang="ja-JP" dirty="0" smtClean="0"/>
              <a:t>/</a:t>
            </a:r>
            <a:r>
              <a:rPr lang="ja-JP" altLang="en-US" dirty="0" smtClean="0"/>
              <a:t>サーバー方式</a:t>
            </a:r>
            <a:endParaRPr lang="en-US" altLang="ja-JP" dirty="0"/>
          </a:p>
          <a:p>
            <a:r>
              <a:rPr lang="ja-JP" altLang="en-US" dirty="0" smtClean="0"/>
              <a:t>　　　データベース：</a:t>
            </a:r>
            <a:r>
              <a:rPr lang="en-US" altLang="ja-JP" dirty="0" smtClean="0"/>
              <a:t>SQL Server 2019</a:t>
            </a:r>
            <a:r>
              <a:rPr lang="ja-JP" altLang="en-US" dirty="0" smtClean="0"/>
              <a:t>　　　　　　　　　</a:t>
            </a:r>
            <a:r>
              <a:rPr lang="en-US" altLang="ja-JP" dirty="0" smtClean="0"/>
              <a:t>SP</a:t>
            </a:r>
            <a:r>
              <a:rPr lang="ja-JP" altLang="en-US" dirty="0" smtClean="0"/>
              <a:t>・</a:t>
            </a:r>
            <a:r>
              <a:rPr lang="en-US" altLang="ja-JP" dirty="0" smtClean="0"/>
              <a:t>FUNC</a:t>
            </a:r>
            <a:r>
              <a:rPr lang="ja-JP" altLang="en-US" dirty="0" smtClean="0"/>
              <a:t>：ストアドプロシージャ・ファンクション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　　開発言語  ：</a:t>
            </a:r>
            <a:r>
              <a:rPr lang="en-US" altLang="ja-JP" dirty="0" smtClean="0"/>
              <a:t>Visual Basic 6.0 Sp5</a:t>
            </a:r>
          </a:p>
          <a:p>
            <a:r>
              <a:rPr lang="en-US" altLang="ja-JP" dirty="0" smtClean="0"/>
              <a:t>      </a:t>
            </a:r>
            <a:r>
              <a:rPr lang="ja-JP" altLang="en-US" dirty="0" smtClean="0"/>
              <a:t>グリッド：</a:t>
            </a:r>
            <a:r>
              <a:rPr lang="en-US" altLang="ja-JP" dirty="0" smtClean="0"/>
              <a:t>Spread 3.0J</a:t>
            </a:r>
            <a:r>
              <a:rPr lang="ja-JP" altLang="en-US" dirty="0" smtClean="0"/>
              <a:t>　　　　　　　　　　　　　　　　</a:t>
            </a:r>
            <a:r>
              <a:rPr lang="ja-JP" altLang="en-US" dirty="0"/>
              <a:t>帳票</a:t>
            </a:r>
            <a:r>
              <a:rPr lang="ja-JP" altLang="en-US" dirty="0" smtClean="0"/>
              <a:t>ツール：</a:t>
            </a:r>
            <a:r>
              <a:rPr lang="en-US" altLang="ja-JP" dirty="0" smtClean="0"/>
              <a:t>Active Report 1.5</a:t>
            </a:r>
          </a:p>
          <a:p>
            <a:r>
              <a:rPr lang="ja-JP" altLang="en-US" dirty="0" smtClean="0"/>
              <a:t>システム</a:t>
            </a:r>
            <a:r>
              <a:rPr lang="ja-JP" altLang="en-US" dirty="0"/>
              <a:t>規模</a:t>
            </a:r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559828"/>
              </p:ext>
            </p:extLst>
          </p:nvPr>
        </p:nvGraphicFramePr>
        <p:xfrm>
          <a:off x="1479664" y="4709574"/>
          <a:ext cx="901100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299">
                  <a:extLst>
                    <a:ext uri="{9D8B030D-6E8A-4147-A177-3AD203B41FA5}">
                      <a16:colId xmlns:a16="http://schemas.microsoft.com/office/drawing/2014/main" val="1891101272"/>
                    </a:ext>
                  </a:extLst>
                </a:gridCol>
                <a:gridCol w="1686827">
                  <a:extLst>
                    <a:ext uri="{9D8B030D-6E8A-4147-A177-3AD203B41FA5}">
                      <a16:colId xmlns:a16="http://schemas.microsoft.com/office/drawing/2014/main" val="1869703441"/>
                    </a:ext>
                  </a:extLst>
                </a:gridCol>
                <a:gridCol w="2112749">
                  <a:extLst>
                    <a:ext uri="{9D8B030D-6E8A-4147-A177-3AD203B41FA5}">
                      <a16:colId xmlns:a16="http://schemas.microsoft.com/office/drawing/2014/main" val="1927533211"/>
                    </a:ext>
                  </a:extLst>
                </a:gridCol>
                <a:gridCol w="1724563">
                  <a:extLst>
                    <a:ext uri="{9D8B030D-6E8A-4147-A177-3AD203B41FA5}">
                      <a16:colId xmlns:a16="http://schemas.microsoft.com/office/drawing/2014/main" val="3460164034"/>
                    </a:ext>
                  </a:extLst>
                </a:gridCol>
                <a:gridCol w="1724563">
                  <a:extLst>
                    <a:ext uri="{9D8B030D-6E8A-4147-A177-3AD203B41FA5}">
                      <a16:colId xmlns:a16="http://schemas.microsoft.com/office/drawing/2014/main" val="229804898"/>
                    </a:ext>
                  </a:extLst>
                </a:gridCol>
              </a:tblGrid>
              <a:tr h="3110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分類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機能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帳票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規模</a:t>
                      </a: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kumimoji="1" lang="en-US" altLang="ja-JP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KStep</a:t>
                      </a: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150170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4(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共通含む</a:t>
                      </a: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54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4.7M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7354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 </a:t>
                      </a:r>
                      <a:r>
                        <a:rPr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SP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4(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共通含む</a:t>
                      </a: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-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-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0.8M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48124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見積以外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167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新規開発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12.5M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706089"/>
                  </a:ext>
                </a:extLst>
              </a:tr>
              <a:tr h="311011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見積以外 </a:t>
                      </a:r>
                      <a:r>
                        <a:rPr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SP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-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-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5.1M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0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05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2.</a:t>
            </a:r>
            <a:r>
              <a:rPr lang="ja-JP" altLang="en-US" dirty="0"/>
              <a:t>ソース マイグレーション方式の調査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3234349" cy="3633047"/>
          </a:xfrm>
        </p:spPr>
        <p:txBody>
          <a:bodyPr/>
          <a:lstStyle/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276490" y="2228002"/>
            <a:ext cx="3196652" cy="4214362"/>
          </a:xfrm>
        </p:spPr>
        <p:txBody>
          <a:bodyPr/>
          <a:lstStyle/>
          <a:p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 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7" name="コンテンツ プレースホルダー 3"/>
          <p:cNvSpPr txBox="1">
            <a:spLocks/>
          </p:cNvSpPr>
          <p:nvPr/>
        </p:nvSpPr>
        <p:spPr>
          <a:xfrm>
            <a:off x="7679167" y="2228002"/>
            <a:ext cx="3196652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733593" y="2380404"/>
            <a:ext cx="3234349" cy="58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 smtClean="0"/>
              <a:t>コンバートサービスの調査</a:t>
            </a:r>
            <a:endParaRPr lang="ja-JP" altLang="en-US" dirty="0"/>
          </a:p>
        </p:txBody>
      </p:sp>
      <p:sp>
        <p:nvSpPr>
          <p:cNvPr id="8" name="コンテンツ プレースホルダー 3"/>
          <p:cNvSpPr txBox="1">
            <a:spLocks/>
          </p:cNvSpPr>
          <p:nvPr/>
        </p:nvSpPr>
        <p:spPr>
          <a:xfrm>
            <a:off x="4428890" y="2380402"/>
            <a:ext cx="3196652" cy="587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 smtClean="0"/>
              <a:t>コンバートツールの調査</a:t>
            </a:r>
            <a:endParaRPr lang="ja-JP" altLang="en-US" dirty="0"/>
          </a:p>
        </p:txBody>
      </p:sp>
      <p:sp>
        <p:nvSpPr>
          <p:cNvPr id="10" name="コンテンツ プレースホルダー 3"/>
          <p:cNvSpPr txBox="1">
            <a:spLocks/>
          </p:cNvSpPr>
          <p:nvPr/>
        </p:nvSpPr>
        <p:spPr>
          <a:xfrm>
            <a:off x="7831567" y="2380403"/>
            <a:ext cx="3196652" cy="495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 smtClean="0"/>
              <a:t>ミドルウェアなどの技術的調査</a:t>
            </a:r>
            <a:endParaRPr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675158"/>
              </p:ext>
            </p:extLst>
          </p:nvPr>
        </p:nvGraphicFramePr>
        <p:xfrm>
          <a:off x="733593" y="2228003"/>
          <a:ext cx="10596654" cy="4229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218">
                  <a:extLst>
                    <a:ext uri="{9D8B030D-6E8A-4147-A177-3AD203B41FA5}">
                      <a16:colId xmlns:a16="http://schemas.microsoft.com/office/drawing/2014/main" val="2926035541"/>
                    </a:ext>
                  </a:extLst>
                </a:gridCol>
                <a:gridCol w="3532218">
                  <a:extLst>
                    <a:ext uri="{9D8B030D-6E8A-4147-A177-3AD203B41FA5}">
                      <a16:colId xmlns:a16="http://schemas.microsoft.com/office/drawing/2014/main" val="1533816864"/>
                    </a:ext>
                  </a:extLst>
                </a:gridCol>
                <a:gridCol w="3532218">
                  <a:extLst>
                    <a:ext uri="{9D8B030D-6E8A-4147-A177-3AD203B41FA5}">
                      <a16:colId xmlns:a16="http://schemas.microsoft.com/office/drawing/2014/main" val="2946886895"/>
                    </a:ext>
                  </a:extLst>
                </a:gridCol>
              </a:tblGrid>
              <a:tr h="351018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コンバートサービスの調査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コンバートツールの調査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ミドルウェアなどの技術的調査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351772"/>
                  </a:ext>
                </a:extLst>
              </a:tr>
              <a:tr h="3863344"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VB6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ソースのコンバート後のソースに修正が必要なこと、</a:t>
                      </a:r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OCX 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及び </a:t>
                      </a:r>
                      <a:r>
                        <a:rPr kumimoji="1"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ActiveX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製品については、</a:t>
                      </a:r>
                      <a:r>
                        <a:rPr kumimoji="1" lang="en-US" altLang="ja-JP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.Net</a:t>
                      </a:r>
                      <a:r>
                        <a:rPr kumimoji="1"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製品側の新規開発となるので外部の変換サービスは利用できない方向</a:t>
                      </a:r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Microsoft </a:t>
                      </a:r>
                      <a:r>
                        <a:rPr lang="en-US" altLang="ja-JP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VisualBasic</a:t>
                      </a:r>
                      <a:r>
                        <a:rPr lang="en-US" altLang="ja-JP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Upgrade </a:t>
                      </a:r>
                      <a:r>
                        <a:rPr lang="en-US" altLang="ja-JP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Wizzard</a:t>
                      </a:r>
                      <a:r>
                        <a:rPr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VisualStudio</a:t>
                      </a:r>
                      <a:r>
                        <a:rPr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標準機能で無償ツール）</a:t>
                      </a:r>
                      <a:endParaRPr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indent="0">
                        <a:buNone/>
                      </a:pPr>
                      <a:endParaRPr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indent="0">
                        <a:buNone/>
                      </a:pPr>
                      <a:r>
                        <a:rPr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コンバード後、エラー対応必要</a:t>
                      </a:r>
                      <a:endParaRPr lang="en-US" altLang="ja-JP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帳票ツール・コントロール・データアクセス方式などを実現可能か調整をし、選定を行う </a:t>
                      </a:r>
                    </a:p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052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3.</a:t>
            </a:r>
            <a:r>
              <a:rPr lang="ja-JP" altLang="en-US" dirty="0"/>
              <a:t>ソース マイグレーションツールの作成検討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 smtClean="0"/>
              <a:t>VB6 </a:t>
            </a:r>
            <a:r>
              <a:rPr kumimoji="1" lang="ja-JP" altLang="en-US" dirty="0" smtClean="0"/>
              <a:t>をアップグレードした事に因る下位互換定義除去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18166" y="2228003"/>
            <a:ext cx="5561215" cy="3633047"/>
          </a:xfrm>
        </p:spPr>
        <p:txBody>
          <a:bodyPr/>
          <a:lstStyle/>
          <a:p>
            <a:r>
              <a:rPr kumimoji="1" lang="en-US" altLang="ja-JP" dirty="0" smtClean="0"/>
              <a:t>Visual Studio 2022</a:t>
            </a:r>
            <a:r>
              <a:rPr kumimoji="1" lang="ja-JP" altLang="en-US" dirty="0" smtClean="0"/>
              <a:t>新規フォーム作成時に状態変更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858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4.</a:t>
            </a:r>
            <a:r>
              <a:rPr lang="ja-JP" altLang="en-US" dirty="0"/>
              <a:t>ソース 手修正の変換ルール・修正割合の検討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270967" cy="3633047"/>
          </a:xfrm>
        </p:spPr>
        <p:txBody>
          <a:bodyPr/>
          <a:lstStyle/>
          <a:p>
            <a:r>
              <a:rPr kumimoji="1" lang="en-US" altLang="ja-JP" dirty="0" smtClean="0"/>
              <a:t>MS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コンバートツールによる変換後の修正量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既存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OCX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ExXXXX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フィールド）の見直し 及び 既存 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ActiveX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(Spread , Active Report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）の除去後でないと コンバート出来ない為、未計測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フォーム定義部品の</a:t>
            </a:r>
            <a:r>
              <a:rPr lang="ja-JP" altLang="en-US" dirty="0" smtClean="0"/>
              <a:t>影響</a:t>
            </a:r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867" y="3449697"/>
            <a:ext cx="5206781" cy="922798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417" y="4805102"/>
            <a:ext cx="5336647" cy="113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2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5.</a:t>
            </a:r>
            <a:r>
              <a:rPr lang="ja-JP" altLang="en-US" dirty="0"/>
              <a:t>ソース マイグレーション方式の決定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111433"/>
            <a:ext cx="11029616" cy="4364182"/>
          </a:xfrm>
        </p:spPr>
        <p:txBody>
          <a:bodyPr>
            <a:normAutofit/>
          </a:bodyPr>
          <a:lstStyle/>
          <a:p>
            <a:r>
              <a:rPr lang="ja-JP" altLang="en-US" dirty="0"/>
              <a:t>新</a:t>
            </a:r>
            <a:r>
              <a:rPr lang="ja-JP" altLang="en-US" dirty="0" smtClean="0"/>
              <a:t>システム方式</a:t>
            </a:r>
            <a:endParaRPr lang="en-US" altLang="ja-JP" dirty="0" smtClean="0"/>
          </a:p>
          <a:p>
            <a:r>
              <a:rPr lang="ja-JP" altLang="en-US" dirty="0" smtClean="0"/>
              <a:t>　　　クライアント</a:t>
            </a:r>
            <a:r>
              <a:rPr lang="en-US" altLang="ja-JP" dirty="0" smtClean="0"/>
              <a:t>/</a:t>
            </a:r>
            <a:r>
              <a:rPr lang="ja-JP" altLang="en-US" dirty="0" smtClean="0"/>
              <a:t>サーバー方式（見積のみ）            </a:t>
            </a:r>
            <a:r>
              <a:rPr lang="en-US" altLang="ja-JP" dirty="0" smtClean="0"/>
              <a:t>Web</a:t>
            </a:r>
            <a:r>
              <a:rPr lang="ja-JP" altLang="en-US" dirty="0"/>
              <a:t>サーバー</a:t>
            </a:r>
            <a:r>
              <a:rPr lang="ja-JP" altLang="en-US" dirty="0" smtClean="0"/>
              <a:t>方式（見積以外）</a:t>
            </a:r>
            <a:endParaRPr lang="en-US" altLang="ja-JP" dirty="0"/>
          </a:p>
          <a:p>
            <a:r>
              <a:rPr lang="ja-JP" altLang="en-US" dirty="0" smtClean="0"/>
              <a:t>　　　データベース：</a:t>
            </a:r>
            <a:r>
              <a:rPr lang="en-US" altLang="ja-JP" dirty="0" smtClean="0"/>
              <a:t>SQL Server 2022</a:t>
            </a:r>
            <a:r>
              <a:rPr lang="ja-JP" altLang="en-US" dirty="0" smtClean="0"/>
              <a:t>　　　　　　　　　</a:t>
            </a:r>
            <a:r>
              <a:rPr lang="en-US" altLang="ja-JP" dirty="0" smtClean="0"/>
              <a:t>SP</a:t>
            </a:r>
            <a:r>
              <a:rPr lang="ja-JP" altLang="en-US" dirty="0" smtClean="0"/>
              <a:t>・</a:t>
            </a:r>
            <a:r>
              <a:rPr lang="en-US" altLang="ja-JP" dirty="0" smtClean="0"/>
              <a:t>FUNC</a:t>
            </a:r>
            <a:r>
              <a:rPr lang="ja-JP" altLang="en-US" dirty="0" smtClean="0"/>
              <a:t>：ストアドプロシージャ・ファンクション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　　開発言語  ：</a:t>
            </a:r>
            <a:r>
              <a:rPr lang="en-US" altLang="ja-JP" dirty="0" err="1" smtClean="0"/>
              <a:t>VB.Net</a:t>
            </a:r>
            <a:r>
              <a:rPr lang="en-US" altLang="ja-JP" dirty="0"/>
              <a:t> 2022</a:t>
            </a:r>
            <a:r>
              <a:rPr lang="en-US" altLang="ja-JP" dirty="0" smtClean="0"/>
              <a:t>/.</a:t>
            </a:r>
            <a:r>
              <a:rPr lang="en-US" altLang="ja-JP" dirty="0"/>
              <a:t>NET Framework </a:t>
            </a:r>
            <a:r>
              <a:rPr lang="en-US" altLang="ja-JP" dirty="0" smtClean="0"/>
              <a:t>4.8</a:t>
            </a:r>
            <a:r>
              <a:rPr lang="ja-JP" altLang="en-US" dirty="0" smtClean="0"/>
              <a:t>（</a:t>
            </a:r>
            <a:r>
              <a:rPr lang="en-US" altLang="ja-JP" dirty="0" smtClean="0"/>
              <a:t>※2031/10/14 </a:t>
            </a:r>
            <a:r>
              <a:rPr lang="ja-JP" altLang="en-US" dirty="0" smtClean="0"/>
              <a:t>サポート期限）</a:t>
            </a:r>
            <a:r>
              <a:rPr lang="en-US" altLang="ja-JP" dirty="0" smtClean="0"/>
              <a:t> </a:t>
            </a:r>
          </a:p>
          <a:p>
            <a:r>
              <a:rPr lang="en-US" altLang="ja-JP" dirty="0" smtClean="0"/>
              <a:t>      </a:t>
            </a:r>
            <a:r>
              <a:rPr lang="ja-JP" altLang="en-US" dirty="0" smtClean="0"/>
              <a:t>グリッド：</a:t>
            </a:r>
            <a:r>
              <a:rPr lang="en-US" altLang="ja-JP" dirty="0" smtClean="0"/>
              <a:t>Spread 17.0J</a:t>
            </a:r>
            <a:r>
              <a:rPr lang="ja-JP" altLang="en-US" dirty="0" smtClean="0"/>
              <a:t>　　　　　　　　　　　　　　　帳票ツール：移行対象外、新規デザイン</a:t>
            </a:r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677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5.</a:t>
            </a:r>
            <a:r>
              <a:rPr lang="ja-JP" altLang="en-US" dirty="0"/>
              <a:t>ソース マイグレーション方式の決定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998230"/>
          </a:xfrm>
        </p:spPr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dirty="0"/>
              <a:t>(1</a:t>
            </a:r>
            <a:r>
              <a:rPr lang="en-US" altLang="ja-JP" dirty="0" smtClean="0"/>
              <a:t>).</a:t>
            </a:r>
            <a:r>
              <a:rPr lang="ja-JP" altLang="en-US" dirty="0" smtClean="0"/>
              <a:t>手順</a:t>
            </a:r>
            <a:r>
              <a:rPr lang="en-US" altLang="ja-JP" dirty="0"/>
              <a:t>A </a:t>
            </a:r>
            <a:r>
              <a:rPr lang="ja-JP" altLang="en-US" dirty="0"/>
              <a:t>～ </a:t>
            </a:r>
            <a:r>
              <a:rPr lang="en-US" altLang="ja-JP" dirty="0"/>
              <a:t>Microsoft</a:t>
            </a:r>
            <a:r>
              <a:rPr lang="ja-JP" altLang="en-US" dirty="0"/>
              <a:t>ツールを使用して、</a:t>
            </a:r>
            <a:r>
              <a:rPr lang="en-US" altLang="ja-JP" dirty="0"/>
              <a:t>VB6</a:t>
            </a:r>
            <a:r>
              <a:rPr lang="ja-JP" altLang="en-US" dirty="0"/>
              <a:t>ソースを</a:t>
            </a:r>
            <a:r>
              <a:rPr lang="en-US" altLang="ja-JP" dirty="0"/>
              <a:t>VB.NET</a:t>
            </a:r>
            <a:r>
              <a:rPr lang="ja-JP" altLang="en-US" dirty="0"/>
              <a:t>ソースへ変換 </a:t>
            </a:r>
          </a:p>
          <a:p>
            <a:r>
              <a:rPr lang="en-US" altLang="ja-JP" dirty="0"/>
              <a:t>(2</a:t>
            </a:r>
            <a:r>
              <a:rPr lang="en-US" altLang="ja-JP" dirty="0" smtClean="0"/>
              <a:t>).</a:t>
            </a:r>
            <a:r>
              <a:rPr lang="ja-JP" altLang="en-US" dirty="0" smtClean="0"/>
              <a:t>手順</a:t>
            </a:r>
            <a:r>
              <a:rPr lang="en-US" altLang="ja-JP" dirty="0"/>
              <a:t>B </a:t>
            </a:r>
            <a:r>
              <a:rPr lang="ja-JP" altLang="en-US" dirty="0"/>
              <a:t>～ 新たに作成した</a:t>
            </a:r>
            <a:r>
              <a:rPr lang="ja-JP" altLang="en-US" dirty="0" smtClean="0"/>
              <a:t>マイグレーションエラーを独自ツールを使用</a:t>
            </a:r>
            <a:r>
              <a:rPr lang="ja-JP" altLang="en-US" dirty="0"/>
              <a:t>し、</a:t>
            </a:r>
            <a:r>
              <a:rPr lang="en-US" altLang="ja-JP" dirty="0"/>
              <a:t>VB.NET</a:t>
            </a:r>
            <a:r>
              <a:rPr lang="ja-JP" altLang="en-US" dirty="0"/>
              <a:t>ソースを変換 </a:t>
            </a:r>
          </a:p>
          <a:p>
            <a:r>
              <a:rPr lang="en-US" altLang="zh-TW" dirty="0"/>
              <a:t>(3</a:t>
            </a:r>
            <a:r>
              <a:rPr lang="en-US" altLang="zh-TW" dirty="0" smtClean="0"/>
              <a:t>)</a:t>
            </a:r>
            <a:r>
              <a:rPr lang="en-US" altLang="ja-JP" dirty="0" smtClean="0"/>
              <a:t>.</a:t>
            </a:r>
            <a:r>
              <a:rPr lang="zh-TW" altLang="en-US" dirty="0" smtClean="0"/>
              <a:t>手順</a:t>
            </a:r>
            <a:r>
              <a:rPr lang="en-US" altLang="zh-TW" dirty="0"/>
              <a:t>C </a:t>
            </a:r>
            <a:r>
              <a:rPr lang="zh-TW" altLang="en-US" dirty="0"/>
              <a:t>～ 手修正作業 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617913" y="2735906"/>
            <a:ext cx="1064727" cy="66501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VB6</a:t>
            </a:r>
            <a:r>
              <a:rPr kumimoji="1" lang="ja-JP" altLang="en-US" sz="1100" dirty="0" smtClean="0"/>
              <a:t>ソース</a:t>
            </a:r>
            <a:endParaRPr kumimoji="1" lang="ja-JP" altLang="en-US" sz="1100" dirty="0"/>
          </a:p>
        </p:txBody>
      </p:sp>
      <p:sp>
        <p:nvSpPr>
          <p:cNvPr id="6" name="片側の 2 つの角を丸めた四角形 5"/>
          <p:cNvSpPr/>
          <p:nvPr/>
        </p:nvSpPr>
        <p:spPr>
          <a:xfrm>
            <a:off x="1936866" y="2335876"/>
            <a:ext cx="3075709" cy="2273446"/>
          </a:xfrm>
          <a:prstGeom prst="round2SameRect">
            <a:avLst>
              <a:gd name="adj1" fmla="val 870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3676299" y="2726575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VB.NET</a:t>
            </a:r>
            <a:r>
              <a:rPr kumimoji="1" lang="ja-JP" altLang="en-US" sz="1100" dirty="0" smtClean="0"/>
              <a:t>ソース</a:t>
            </a:r>
            <a:endParaRPr kumimoji="1" lang="en-US" altLang="ja-JP" sz="1100" dirty="0" smtClean="0"/>
          </a:p>
          <a:p>
            <a:pPr algn="ctr"/>
            <a:r>
              <a:rPr kumimoji="1" lang="en-US" altLang="ja-JP" sz="1100" dirty="0" smtClean="0"/>
              <a:t>(VS2008</a:t>
            </a:r>
            <a:r>
              <a:rPr kumimoji="1" lang="ja-JP" altLang="en-US" sz="1100" dirty="0" smtClean="0"/>
              <a:t>形式</a:t>
            </a:r>
            <a:r>
              <a:rPr kumimoji="1" lang="en-US" altLang="ja-JP" sz="1100" dirty="0" smtClean="0"/>
              <a:t>)</a:t>
            </a:r>
            <a:endParaRPr kumimoji="1" lang="ja-JP" altLang="en-US" sz="1100" dirty="0"/>
          </a:p>
        </p:txBody>
      </p:sp>
      <p:sp>
        <p:nvSpPr>
          <p:cNvPr id="10" name="角丸四角形 9"/>
          <p:cNvSpPr/>
          <p:nvPr/>
        </p:nvSpPr>
        <p:spPr>
          <a:xfrm>
            <a:off x="3676299" y="3586943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VB.NET</a:t>
            </a:r>
            <a:r>
              <a:rPr kumimoji="1" lang="ja-JP" altLang="en-US" sz="1100" dirty="0" smtClean="0"/>
              <a:t>ソース</a:t>
            </a:r>
            <a:endParaRPr kumimoji="1" lang="en-US" altLang="ja-JP" sz="1100" dirty="0" smtClean="0"/>
          </a:p>
          <a:p>
            <a:pPr algn="ctr"/>
            <a:r>
              <a:rPr kumimoji="1" lang="en-US" altLang="ja-JP" sz="1100" dirty="0" smtClean="0"/>
              <a:t>(VS2022</a:t>
            </a:r>
            <a:r>
              <a:rPr kumimoji="1" lang="ja-JP" altLang="en-US" sz="1100" dirty="0" smtClean="0"/>
              <a:t>形式</a:t>
            </a:r>
            <a:r>
              <a:rPr kumimoji="1" lang="en-US" altLang="ja-JP" sz="1100" dirty="0" smtClean="0"/>
              <a:t>)</a:t>
            </a:r>
            <a:endParaRPr kumimoji="1" lang="ja-JP" altLang="en-US" sz="1100" dirty="0"/>
          </a:p>
        </p:txBody>
      </p:sp>
      <p:sp>
        <p:nvSpPr>
          <p:cNvPr id="7" name="ホームベース 6"/>
          <p:cNvSpPr/>
          <p:nvPr/>
        </p:nvSpPr>
        <p:spPr>
          <a:xfrm>
            <a:off x="2103120" y="2734890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/>
              <a:t>MS Upgrade Tool</a:t>
            </a:r>
          </a:p>
          <a:p>
            <a:pPr algn="ctr"/>
            <a:r>
              <a:rPr kumimoji="1" lang="en-US" altLang="ja-JP" sz="1000" dirty="0" smtClean="0"/>
              <a:t>VB.NET</a:t>
            </a:r>
            <a:r>
              <a:rPr kumimoji="1" lang="ja-JP" altLang="en-US" sz="1000" dirty="0" smtClean="0"/>
              <a:t>ソースへ変換</a:t>
            </a:r>
            <a:endParaRPr kumimoji="1" lang="ja-JP" altLang="en-US" sz="1000" dirty="0"/>
          </a:p>
        </p:txBody>
      </p:sp>
      <p:sp>
        <p:nvSpPr>
          <p:cNvPr id="11" name="ホームベース 10"/>
          <p:cNvSpPr/>
          <p:nvPr/>
        </p:nvSpPr>
        <p:spPr>
          <a:xfrm>
            <a:off x="2103120" y="3595258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/>
              <a:t>MS Visual Studio2022</a:t>
            </a:r>
          </a:p>
          <a:p>
            <a:pPr algn="ctr"/>
            <a:r>
              <a:rPr kumimoji="1" lang="en-US" altLang="ja-JP" sz="1000" dirty="0" smtClean="0"/>
              <a:t>VS2022</a:t>
            </a:r>
            <a:r>
              <a:rPr kumimoji="1" lang="ja-JP" altLang="en-US" sz="1000" dirty="0" smtClean="0"/>
              <a:t>形式へ変換</a:t>
            </a:r>
            <a:endParaRPr kumimoji="1" lang="ja-JP" altLang="en-US" sz="10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038313" y="2402378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13" name="片側の 2 つの角を丸めた四角形 12"/>
          <p:cNvSpPr/>
          <p:nvPr/>
        </p:nvSpPr>
        <p:spPr>
          <a:xfrm>
            <a:off x="5233548" y="2335876"/>
            <a:ext cx="3075709" cy="2273446"/>
          </a:xfrm>
          <a:prstGeom prst="round2SameRect">
            <a:avLst>
              <a:gd name="adj1" fmla="val 8702"/>
              <a:gd name="adj2" fmla="val 0"/>
            </a:avLst>
          </a:prstGeom>
          <a:solidFill>
            <a:srgbClr val="FFCCFF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/>
          <p:cNvSpPr/>
          <p:nvPr/>
        </p:nvSpPr>
        <p:spPr>
          <a:xfrm>
            <a:off x="7024233" y="3059084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VB.NET</a:t>
            </a:r>
            <a:r>
              <a:rPr kumimoji="1" lang="ja-JP" altLang="en-US" sz="1100" dirty="0" smtClean="0"/>
              <a:t>ソース</a:t>
            </a:r>
            <a:endParaRPr kumimoji="1" lang="en-US" altLang="ja-JP" sz="1100" dirty="0" smtClean="0"/>
          </a:p>
          <a:p>
            <a:pPr algn="ctr"/>
            <a:r>
              <a:rPr kumimoji="1" lang="en-US" altLang="ja-JP" sz="1100" dirty="0" smtClean="0"/>
              <a:t>(VS2022</a:t>
            </a:r>
            <a:r>
              <a:rPr kumimoji="1" lang="ja-JP" altLang="en-US" sz="1100" dirty="0" smtClean="0"/>
              <a:t>形式</a:t>
            </a:r>
            <a:r>
              <a:rPr kumimoji="1" lang="en-US" altLang="ja-JP" sz="1100" dirty="0" smtClean="0"/>
              <a:t>)</a:t>
            </a:r>
            <a:endParaRPr kumimoji="1" lang="ja-JP" altLang="en-US" sz="1100" dirty="0"/>
          </a:p>
        </p:txBody>
      </p:sp>
      <p:sp>
        <p:nvSpPr>
          <p:cNvPr id="15" name="ホームベース 14"/>
          <p:cNvSpPr/>
          <p:nvPr/>
        </p:nvSpPr>
        <p:spPr>
          <a:xfrm>
            <a:off x="5451054" y="3067399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/>
              <a:t>Migration</a:t>
            </a:r>
            <a:r>
              <a:rPr kumimoji="1" lang="ja-JP" altLang="en-US" sz="1000" dirty="0"/>
              <a:t> </a:t>
            </a:r>
            <a:r>
              <a:rPr kumimoji="1" lang="en-US" altLang="ja-JP" sz="1000" dirty="0" smtClean="0"/>
              <a:t>Error</a:t>
            </a:r>
          </a:p>
          <a:p>
            <a:pPr algn="ctr"/>
            <a:r>
              <a:rPr kumimoji="1" lang="ja-JP" altLang="en-US" sz="1000" dirty="0"/>
              <a:t>独自</a:t>
            </a:r>
            <a:r>
              <a:rPr kumimoji="1" lang="ja-JP" altLang="en-US" sz="1000" dirty="0" smtClean="0"/>
              <a:t>ツールで変更</a:t>
            </a:r>
            <a:endParaRPr kumimoji="1" lang="ja-JP" altLang="en-US" sz="10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301744" y="2453522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B</a:t>
            </a:r>
            <a:endParaRPr kumimoji="1" lang="ja-JP" altLang="en-US" dirty="0"/>
          </a:p>
        </p:txBody>
      </p:sp>
      <p:sp>
        <p:nvSpPr>
          <p:cNvPr id="17" name="片側の 2 つの角を丸めた四角形 16"/>
          <p:cNvSpPr/>
          <p:nvPr/>
        </p:nvSpPr>
        <p:spPr>
          <a:xfrm>
            <a:off x="8564861" y="2335876"/>
            <a:ext cx="2768158" cy="2273446"/>
          </a:xfrm>
          <a:prstGeom prst="round2SameRect">
            <a:avLst>
              <a:gd name="adj1" fmla="val 8702"/>
              <a:gd name="adj2" fmla="val 0"/>
            </a:avLst>
          </a:prstGeom>
          <a:solidFill>
            <a:srgbClr val="FFCCCC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9646232" y="2453522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C</a:t>
            </a:r>
            <a:endParaRPr kumimoji="1" lang="ja-JP" altLang="en-US" dirty="0"/>
          </a:p>
        </p:txBody>
      </p:sp>
      <p:sp>
        <p:nvSpPr>
          <p:cNvPr id="19" name="ホームベース 18"/>
          <p:cNvSpPr/>
          <p:nvPr/>
        </p:nvSpPr>
        <p:spPr>
          <a:xfrm>
            <a:off x="9198731" y="3067479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機能</a:t>
            </a:r>
            <a:r>
              <a:rPr kumimoji="1" lang="ja-JP" altLang="en-US" sz="1000" dirty="0" smtClean="0"/>
              <a:t>別に手修正</a:t>
            </a:r>
            <a:endParaRPr kumimoji="1" lang="ja-JP" altLang="en-US" sz="1000" dirty="0"/>
          </a:p>
        </p:txBody>
      </p:sp>
      <p:sp>
        <p:nvSpPr>
          <p:cNvPr id="20" name="上矢印吹き出し 19"/>
          <p:cNvSpPr/>
          <p:nvPr/>
        </p:nvSpPr>
        <p:spPr>
          <a:xfrm>
            <a:off x="9052561" y="3802391"/>
            <a:ext cx="1911926" cy="611667"/>
          </a:xfrm>
          <a:prstGeom prst="upArrow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変更仕様</a:t>
            </a:r>
            <a:endParaRPr kumimoji="1" lang="ja-JP" altLang="en-US" dirty="0"/>
          </a:p>
        </p:txBody>
      </p:sp>
      <p:cxnSp>
        <p:nvCxnSpPr>
          <p:cNvPr id="22" name="カギ線コネクタ 21"/>
          <p:cNvCxnSpPr>
            <a:stCxn id="4" idx="3"/>
            <a:endCxn id="7" idx="1"/>
          </p:cNvCxnSpPr>
          <p:nvPr/>
        </p:nvCxnSpPr>
        <p:spPr>
          <a:xfrm flipV="1">
            <a:off x="1682640" y="3063243"/>
            <a:ext cx="420480" cy="5173"/>
          </a:xfrm>
          <a:prstGeom prst="bentConnector3">
            <a:avLst/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カギ線コネクタ 23"/>
          <p:cNvCxnSpPr>
            <a:stCxn id="9" idx="2"/>
            <a:endCxn id="11" idx="1"/>
          </p:cNvCxnSpPr>
          <p:nvPr/>
        </p:nvCxnSpPr>
        <p:spPr>
          <a:xfrm rot="5400000">
            <a:off x="2912051" y="2582665"/>
            <a:ext cx="532016" cy="2149877"/>
          </a:xfrm>
          <a:prstGeom prst="bentConnector4">
            <a:avLst>
              <a:gd name="adj1" fmla="val 19141"/>
              <a:gd name="adj2" fmla="val 110633"/>
            </a:avLst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/>
          <p:cNvCxnSpPr>
            <a:stCxn id="10" idx="3"/>
            <a:endCxn id="15" idx="1"/>
          </p:cNvCxnSpPr>
          <p:nvPr/>
        </p:nvCxnSpPr>
        <p:spPr>
          <a:xfrm flipV="1">
            <a:off x="4829695" y="3395752"/>
            <a:ext cx="621359" cy="523701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/>
          <p:cNvCxnSpPr>
            <a:stCxn id="14" idx="3"/>
            <a:endCxn id="19" idx="1"/>
          </p:cNvCxnSpPr>
          <p:nvPr/>
        </p:nvCxnSpPr>
        <p:spPr>
          <a:xfrm>
            <a:off x="8177629" y="3391594"/>
            <a:ext cx="1021102" cy="4238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1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5.</a:t>
            </a:r>
            <a:r>
              <a:rPr lang="ja-JP" altLang="en-US" dirty="0"/>
              <a:t>ソース マイグレーション方式の決定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b="1" dirty="0">
                <a:hlinkClick r:id="rId3"/>
              </a:rPr>
              <a:t>ActiveX</a:t>
            </a:r>
            <a:r>
              <a:rPr lang="ja-JP" altLang="en-US" b="1" dirty="0">
                <a:hlinkClick r:id="rId3"/>
              </a:rPr>
              <a:t>版</a:t>
            </a:r>
            <a:r>
              <a:rPr lang="en-US" altLang="ja-JP" b="1" dirty="0">
                <a:hlinkClick r:id="rId3"/>
              </a:rPr>
              <a:t>SPREAD</a:t>
            </a:r>
            <a:r>
              <a:rPr lang="ja-JP" altLang="en-US" b="1" dirty="0">
                <a:hlinkClick r:id="rId3"/>
              </a:rPr>
              <a:t>からの</a:t>
            </a:r>
            <a:r>
              <a:rPr lang="ja-JP" altLang="en-US" b="1" dirty="0" smtClean="0">
                <a:hlinkClick r:id="rId3"/>
              </a:rPr>
              <a:t>移行</a:t>
            </a:r>
            <a:endParaRPr lang="en-US" altLang="ja-JP" b="1" dirty="0" smtClean="0"/>
          </a:p>
          <a:p>
            <a:r>
              <a:rPr lang="en-US" altLang="ja-JP" dirty="0" smtClean="0"/>
              <a:t>SPREAD </a:t>
            </a:r>
            <a:r>
              <a:rPr lang="en-US" altLang="ja-JP" dirty="0"/>
              <a:t>for Windows Forms</a:t>
            </a:r>
            <a:r>
              <a:rPr lang="ja-JP" altLang="en-US" dirty="0"/>
              <a:t>は </a:t>
            </a:r>
            <a:r>
              <a:rPr lang="en-US" altLang="ja-JP" dirty="0"/>
              <a:t>.NET Framework</a:t>
            </a:r>
            <a:r>
              <a:rPr lang="ja-JP" altLang="en-US" dirty="0"/>
              <a:t>の共通言語ランタイム（</a:t>
            </a:r>
            <a:r>
              <a:rPr lang="en-US" altLang="ja-JP" dirty="0"/>
              <a:t>CLR</a:t>
            </a:r>
            <a:r>
              <a:rPr lang="ja-JP" altLang="en-US" dirty="0"/>
              <a:t>）の管理下で実行されるマネージドコードで作られているため、</a:t>
            </a:r>
            <a:r>
              <a:rPr lang="en-US" altLang="ja-JP" dirty="0"/>
              <a:t>COM</a:t>
            </a:r>
            <a:r>
              <a:rPr lang="ja-JP" altLang="en-US" dirty="0"/>
              <a:t>をベースとした</a:t>
            </a:r>
            <a:r>
              <a:rPr lang="en-US" altLang="ja-JP" dirty="0"/>
              <a:t>ActiveX</a:t>
            </a:r>
            <a:r>
              <a:rPr lang="ja-JP" altLang="en-US" dirty="0"/>
              <a:t>製品（</a:t>
            </a:r>
            <a:r>
              <a:rPr lang="en-US" altLang="ja-JP" dirty="0"/>
              <a:t>SPREAD 2.5J</a:t>
            </a:r>
            <a:r>
              <a:rPr lang="ja-JP" altLang="en-US" dirty="0"/>
              <a:t>／</a:t>
            </a:r>
            <a:r>
              <a:rPr lang="en-US" altLang="ja-JP" dirty="0"/>
              <a:t>3.0J</a:t>
            </a:r>
            <a:r>
              <a:rPr lang="ja-JP" altLang="en-US" dirty="0"/>
              <a:t>／</a:t>
            </a:r>
            <a:r>
              <a:rPr lang="en-US" altLang="ja-JP" dirty="0"/>
              <a:t>6.0J</a:t>
            </a:r>
            <a:r>
              <a:rPr lang="ja-JP" altLang="en-US" dirty="0"/>
              <a:t>／</a:t>
            </a:r>
            <a:r>
              <a:rPr lang="en-US" altLang="ja-JP" dirty="0"/>
              <a:t>7.0J</a:t>
            </a:r>
            <a:r>
              <a:rPr lang="ja-JP" altLang="en-US" dirty="0"/>
              <a:t>）との間に互換性はなく移行ツールは用意しておりません。</a:t>
            </a:r>
          </a:p>
          <a:p>
            <a:r>
              <a:rPr lang="en-US" altLang="ja-JP" dirty="0"/>
              <a:t>ActiveX</a:t>
            </a:r>
            <a:r>
              <a:rPr lang="ja-JP" altLang="en-US" dirty="0"/>
              <a:t>製品の機能を利用して開発した</a:t>
            </a:r>
            <a:r>
              <a:rPr lang="en-US" altLang="ja-JP" dirty="0"/>
              <a:t>VB</a:t>
            </a:r>
            <a:r>
              <a:rPr lang="ja-JP" altLang="en-US" dirty="0"/>
              <a:t>アプリケーションを </a:t>
            </a:r>
            <a:r>
              <a:rPr lang="en-US" altLang="ja-JP" dirty="0"/>
              <a:t>.NET</a:t>
            </a:r>
            <a:r>
              <a:rPr lang="ja-JP" altLang="en-US" dirty="0"/>
              <a:t>に移行する場合は、新規の</a:t>
            </a:r>
            <a:r>
              <a:rPr lang="en-US" altLang="ja-JP" dirty="0"/>
              <a:t>.NET</a:t>
            </a:r>
            <a:r>
              <a:rPr lang="ja-JP" altLang="en-US" dirty="0"/>
              <a:t>アプリケーションとして開発し直す必要があります</a:t>
            </a:r>
            <a:r>
              <a:rPr lang="ja-JP" altLang="en-US" dirty="0" smtClean="0"/>
              <a:t>。</a:t>
            </a:r>
            <a:endParaRPr lang="en-US" altLang="ja-JP" b="1" dirty="0"/>
          </a:p>
          <a:p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Picture 2" descr="https://docs.mescius.jp/help/spread-winforms-migrationguide-15/images/ActiveX_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391" y="2228003"/>
            <a:ext cx="5724444" cy="365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67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5.</a:t>
            </a:r>
            <a:r>
              <a:rPr lang="ja-JP" altLang="en-US" dirty="0"/>
              <a:t>ソース マイグレーション方式の決定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998230"/>
          </a:xfrm>
        </p:spPr>
        <p:txBody>
          <a:bodyPr/>
          <a:lstStyle/>
          <a:p>
            <a:endParaRPr kumimoji="1"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dirty="0"/>
              <a:t>(1</a:t>
            </a:r>
            <a:r>
              <a:rPr lang="en-US" altLang="ja-JP" dirty="0" smtClean="0"/>
              <a:t>).</a:t>
            </a:r>
            <a:r>
              <a:rPr lang="ja-JP" altLang="en-US" dirty="0" smtClean="0"/>
              <a:t>手順</a:t>
            </a:r>
            <a:r>
              <a:rPr lang="en-US" altLang="ja-JP" dirty="0"/>
              <a:t>A </a:t>
            </a:r>
            <a:r>
              <a:rPr lang="ja-JP" altLang="en-US" dirty="0"/>
              <a:t>～ </a:t>
            </a:r>
            <a:r>
              <a:rPr lang="en-US" altLang="ja-JP" dirty="0" smtClean="0"/>
              <a:t>OCX</a:t>
            </a:r>
            <a:r>
              <a:rPr lang="ja-JP" altLang="en-US" dirty="0" smtClean="0"/>
              <a:t>部分の</a:t>
            </a:r>
            <a:r>
              <a:rPr lang="en-US" altLang="ja-JP" dirty="0" smtClean="0"/>
              <a:t>VB6</a:t>
            </a:r>
            <a:r>
              <a:rPr lang="ja-JP" altLang="en-US" dirty="0"/>
              <a:t>ソースを</a:t>
            </a:r>
            <a:r>
              <a:rPr lang="en-US" altLang="ja-JP" dirty="0"/>
              <a:t>VB.NET</a:t>
            </a:r>
            <a:r>
              <a:rPr lang="ja-JP" altLang="en-US" dirty="0"/>
              <a:t>ソースへ</a:t>
            </a:r>
            <a:r>
              <a:rPr lang="ja-JP" altLang="en-US" dirty="0" smtClean="0"/>
              <a:t>変換するマイグレーションツールは存在しない </a:t>
            </a:r>
            <a:endParaRPr lang="ja-JP" altLang="en-US" dirty="0"/>
          </a:p>
          <a:p>
            <a:r>
              <a:rPr lang="en-US" altLang="ja-JP" dirty="0"/>
              <a:t>(2</a:t>
            </a:r>
            <a:r>
              <a:rPr lang="en-US" altLang="ja-JP" dirty="0" smtClean="0"/>
              <a:t>).</a:t>
            </a:r>
            <a:r>
              <a:rPr lang="ja-JP" altLang="en-US" dirty="0" smtClean="0"/>
              <a:t>手順</a:t>
            </a:r>
            <a:r>
              <a:rPr lang="en-US" altLang="ja-JP" dirty="0"/>
              <a:t>B </a:t>
            </a:r>
            <a:r>
              <a:rPr lang="ja-JP" altLang="en-US" dirty="0"/>
              <a:t>～ </a:t>
            </a:r>
            <a:r>
              <a:rPr lang="en-US" altLang="ja-JP" dirty="0" smtClean="0"/>
              <a:t>.NET</a:t>
            </a:r>
            <a:r>
              <a:rPr lang="ja-JP" altLang="en-US" dirty="0" smtClean="0"/>
              <a:t>用の</a:t>
            </a:r>
            <a:r>
              <a:rPr lang="en-US" altLang="ja-JP" dirty="0" smtClean="0"/>
              <a:t>SPREAD 17.0J</a:t>
            </a:r>
            <a:r>
              <a:rPr lang="ja-JP" altLang="en-US" dirty="0" smtClean="0"/>
              <a:t>を購入し、</a:t>
            </a:r>
            <a:r>
              <a:rPr lang="en-US" altLang="ja-JP" dirty="0" smtClean="0"/>
              <a:t>VB.NET</a:t>
            </a:r>
            <a:r>
              <a:rPr lang="ja-JP" altLang="en-US" dirty="0" smtClean="0"/>
              <a:t>側で新規開発を行う</a:t>
            </a:r>
            <a:endParaRPr lang="en-US" altLang="ja-JP" dirty="0" smtClean="0"/>
          </a:p>
        </p:txBody>
      </p:sp>
      <p:sp>
        <p:nvSpPr>
          <p:cNvPr id="4" name="角丸四角形 3"/>
          <p:cNvSpPr/>
          <p:nvPr/>
        </p:nvSpPr>
        <p:spPr>
          <a:xfrm>
            <a:off x="617913" y="2735906"/>
            <a:ext cx="1064727" cy="66501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Spread</a:t>
            </a:r>
            <a:r>
              <a:rPr kumimoji="1" lang="ja-JP" altLang="en-US" sz="1100" dirty="0" smtClean="0"/>
              <a:t> </a:t>
            </a:r>
            <a:r>
              <a:rPr kumimoji="1" lang="en-US" altLang="ja-JP" sz="1100" dirty="0" smtClean="0"/>
              <a:t>3.0J</a:t>
            </a:r>
            <a:r>
              <a:rPr kumimoji="1" lang="ja-JP" altLang="en-US" sz="1100" dirty="0" smtClean="0"/>
              <a:t>ソース</a:t>
            </a:r>
            <a:endParaRPr kumimoji="1" lang="ja-JP" altLang="en-US" sz="1100" dirty="0"/>
          </a:p>
        </p:txBody>
      </p:sp>
      <p:sp>
        <p:nvSpPr>
          <p:cNvPr id="6" name="片側の 2 つの角を丸めた四角形 5"/>
          <p:cNvSpPr/>
          <p:nvPr/>
        </p:nvSpPr>
        <p:spPr>
          <a:xfrm>
            <a:off x="1936866" y="2335876"/>
            <a:ext cx="3075709" cy="1313411"/>
          </a:xfrm>
          <a:prstGeom prst="round2SameRect">
            <a:avLst>
              <a:gd name="adj1" fmla="val 870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3676299" y="2726575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VB.NET</a:t>
            </a:r>
            <a:r>
              <a:rPr kumimoji="1" lang="ja-JP" altLang="en-US" sz="1100" dirty="0" smtClean="0"/>
              <a:t>ソース</a:t>
            </a:r>
            <a:endParaRPr kumimoji="1" lang="en-US" altLang="ja-JP" sz="1100" dirty="0" smtClean="0"/>
          </a:p>
          <a:p>
            <a:pPr algn="ctr"/>
            <a:r>
              <a:rPr kumimoji="1" lang="en-US" altLang="ja-JP" sz="1100" dirty="0" smtClean="0"/>
              <a:t>(VS2008</a:t>
            </a:r>
            <a:r>
              <a:rPr kumimoji="1" lang="ja-JP" altLang="en-US" sz="1100" dirty="0" smtClean="0"/>
              <a:t>形式</a:t>
            </a:r>
            <a:r>
              <a:rPr kumimoji="1" lang="en-US" altLang="ja-JP" sz="1100" dirty="0" smtClean="0"/>
              <a:t>)</a:t>
            </a:r>
            <a:endParaRPr kumimoji="1" lang="ja-JP" altLang="en-US" sz="1100" dirty="0"/>
          </a:p>
        </p:txBody>
      </p:sp>
      <p:sp>
        <p:nvSpPr>
          <p:cNvPr id="7" name="ホームベース 6"/>
          <p:cNvSpPr/>
          <p:nvPr/>
        </p:nvSpPr>
        <p:spPr>
          <a:xfrm>
            <a:off x="2103120" y="2734890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/>
              <a:t>Migration Tool</a:t>
            </a:r>
            <a:r>
              <a:rPr kumimoji="1" lang="ja-JP" altLang="en-US" sz="1000" dirty="0" smtClean="0"/>
              <a:t>なし</a:t>
            </a:r>
            <a:endParaRPr kumimoji="1" lang="en-US" altLang="ja-JP" sz="1000" dirty="0" smtClean="0"/>
          </a:p>
          <a:p>
            <a:pPr algn="ctr"/>
            <a:r>
              <a:rPr kumimoji="1" lang="ja-JP" altLang="en-US" sz="1000" dirty="0" smtClean="0"/>
              <a:t>ソースへ変換</a:t>
            </a:r>
            <a:endParaRPr kumimoji="1" lang="ja-JP" altLang="en-US" sz="10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038313" y="2402378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13" name="片側の 2 つの角を丸めた四角形 12"/>
          <p:cNvSpPr/>
          <p:nvPr/>
        </p:nvSpPr>
        <p:spPr>
          <a:xfrm>
            <a:off x="7070850" y="2335876"/>
            <a:ext cx="3075709" cy="1313411"/>
          </a:xfrm>
          <a:prstGeom prst="round2SameRect">
            <a:avLst>
              <a:gd name="adj1" fmla="val 8702"/>
              <a:gd name="adj2" fmla="val 0"/>
            </a:avLst>
          </a:prstGeom>
          <a:solidFill>
            <a:srgbClr val="FFCCFF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/>
          <p:cNvSpPr/>
          <p:nvPr/>
        </p:nvSpPr>
        <p:spPr>
          <a:xfrm>
            <a:off x="8861535" y="2776449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.NET</a:t>
            </a:r>
            <a:r>
              <a:rPr kumimoji="1" lang="ja-JP" altLang="en-US" sz="1100" dirty="0" smtClean="0"/>
              <a:t>ソース</a:t>
            </a:r>
            <a:endParaRPr kumimoji="1" lang="en-US" altLang="ja-JP" sz="1100" dirty="0" smtClean="0"/>
          </a:p>
          <a:p>
            <a:pPr algn="ctr"/>
            <a:r>
              <a:rPr kumimoji="1" lang="en-US" altLang="ja-JP" sz="1100" dirty="0" smtClean="0"/>
              <a:t>(SPREAD 17.0J</a:t>
            </a:r>
            <a:r>
              <a:rPr kumimoji="1" lang="ja-JP" altLang="en-US" sz="1100" dirty="0" smtClean="0"/>
              <a:t>形式</a:t>
            </a:r>
            <a:r>
              <a:rPr kumimoji="1" lang="en-US" altLang="ja-JP" sz="1100" dirty="0" smtClean="0"/>
              <a:t>)</a:t>
            </a:r>
            <a:endParaRPr kumimoji="1" lang="ja-JP" altLang="en-US" sz="11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8139046" y="2453522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B</a:t>
            </a:r>
            <a:endParaRPr kumimoji="1" lang="ja-JP" altLang="en-US" dirty="0"/>
          </a:p>
        </p:txBody>
      </p:sp>
      <p:cxnSp>
        <p:nvCxnSpPr>
          <p:cNvPr id="22" name="カギ線コネクタ 21"/>
          <p:cNvCxnSpPr>
            <a:stCxn id="4" idx="3"/>
            <a:endCxn id="7" idx="1"/>
          </p:cNvCxnSpPr>
          <p:nvPr/>
        </p:nvCxnSpPr>
        <p:spPr>
          <a:xfrm flipV="1">
            <a:off x="1682640" y="3063243"/>
            <a:ext cx="420480" cy="5173"/>
          </a:xfrm>
          <a:prstGeom prst="bentConnector3">
            <a:avLst/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ホームベース 10"/>
          <p:cNvSpPr/>
          <p:nvPr/>
        </p:nvSpPr>
        <p:spPr>
          <a:xfrm>
            <a:off x="7401941" y="2776449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/>
              <a:t>VB.NET</a:t>
            </a:r>
            <a:r>
              <a:rPr kumimoji="1" lang="ja-JP" altLang="en-US" sz="1000" dirty="0" smtClean="0"/>
              <a:t>で新規開発</a:t>
            </a:r>
            <a:r>
              <a:rPr kumimoji="1" lang="en-US" altLang="ja-JP" sz="1000" dirty="0" smtClean="0"/>
              <a:t> </a:t>
            </a:r>
            <a:endParaRPr kumimoji="1" lang="ja-JP" altLang="en-US" sz="1000" dirty="0"/>
          </a:p>
        </p:txBody>
      </p:sp>
      <p:sp>
        <p:nvSpPr>
          <p:cNvPr id="5" name="乗算 4"/>
          <p:cNvSpPr/>
          <p:nvPr/>
        </p:nvSpPr>
        <p:spPr>
          <a:xfrm>
            <a:off x="3987688" y="2680345"/>
            <a:ext cx="590203" cy="75747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角丸四角形 24"/>
          <p:cNvSpPr/>
          <p:nvPr/>
        </p:nvSpPr>
        <p:spPr>
          <a:xfrm>
            <a:off x="5789128" y="2776450"/>
            <a:ext cx="1064727" cy="66501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smtClean="0"/>
              <a:t>.NET SPREAD 17.0J</a:t>
            </a:r>
            <a:endParaRPr kumimoji="1" lang="ja-JP" altLang="en-US" sz="1100" dirty="0"/>
          </a:p>
        </p:txBody>
      </p:sp>
      <p:cxnSp>
        <p:nvCxnSpPr>
          <p:cNvPr id="26" name="カギ線コネクタ 25"/>
          <p:cNvCxnSpPr>
            <a:stCxn id="25" idx="3"/>
            <a:endCxn id="11" idx="1"/>
          </p:cNvCxnSpPr>
          <p:nvPr/>
        </p:nvCxnSpPr>
        <p:spPr>
          <a:xfrm flipV="1">
            <a:off x="6853855" y="3104802"/>
            <a:ext cx="548086" cy="4158"/>
          </a:xfrm>
          <a:prstGeom prst="bentConnector3">
            <a:avLst/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89709" y="5103674"/>
            <a:ext cx="104490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.NET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製品の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SPREAD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は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.NET Framework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の技術をベースとして新規に作成された（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.NET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専用のマネージコードによって開発された）新しいコンポーネントです。言い換えると、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.NET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製品は「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ActiveX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製品の機能を最大限に継承した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.NET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開発専用の製品」ということになります。そのため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ActiveX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製品（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SPREAD 2.5J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～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7.0J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）との間に互換性はなく、移行ツールも提供しておりません。 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ActiveX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製品で開発されたソフトウェアを 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.NET 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テクノロジーに移行するためには、 </a:t>
            </a: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.NET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アプリケーションの開発手順に従い新規アプリケーションとして開発し直す必要があります</a:t>
            </a:r>
            <a:endParaRPr kumimoji="1" lang="ja-JP" altLang="en-US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689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5.</a:t>
            </a:r>
            <a:r>
              <a:rPr lang="ja-JP" altLang="en-US" dirty="0"/>
              <a:t>ソース マイグレーション方式の決定</a:t>
            </a:r>
            <a:endParaRPr lang="en-US" altLang="ja-JP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b="1" dirty="0" smtClean="0">
                <a:hlinkClick r:id="rId3"/>
              </a:rPr>
              <a:t>ActiveX</a:t>
            </a:r>
            <a:r>
              <a:rPr lang="ja-JP" altLang="en-US" b="1" dirty="0" smtClean="0">
                <a:hlinkClick r:id="rId3"/>
              </a:rPr>
              <a:t>版</a:t>
            </a:r>
            <a:r>
              <a:rPr lang="en-US" altLang="ja-JP" b="1" dirty="0" err="1" smtClean="0">
                <a:hlinkClick r:id="rId3"/>
              </a:rPr>
              <a:t>ActiveReports</a:t>
            </a:r>
            <a:r>
              <a:rPr lang="ja-JP" altLang="en-US" b="1" dirty="0" smtClean="0">
                <a:hlinkClick r:id="rId3"/>
              </a:rPr>
              <a:t>から</a:t>
            </a:r>
            <a:r>
              <a:rPr lang="ja-JP" altLang="en-US" b="1" dirty="0">
                <a:hlinkClick r:id="rId3"/>
              </a:rPr>
              <a:t>の</a:t>
            </a:r>
            <a:r>
              <a:rPr lang="ja-JP" altLang="en-US" b="1" dirty="0" smtClean="0">
                <a:hlinkClick r:id="rId3"/>
              </a:rPr>
              <a:t>移行</a:t>
            </a:r>
            <a:r>
              <a:rPr lang="ja-JP" altLang="en-US" b="1" dirty="0" smtClean="0"/>
              <a:t> </a:t>
            </a:r>
            <a:r>
              <a:rPr lang="en-US" altLang="ja-JP" b="1" dirty="0" smtClean="0"/>
              <a:t>※</a:t>
            </a:r>
            <a:r>
              <a:rPr lang="ja-JP" altLang="en-US" b="1" dirty="0" smtClean="0"/>
              <a:t>参考</a:t>
            </a:r>
            <a:endParaRPr lang="en-US" altLang="ja-JP" b="1" dirty="0" smtClean="0"/>
          </a:p>
          <a:p>
            <a:r>
              <a:rPr lang="en-US" altLang="ja-JP" dirty="0"/>
              <a:t>.NET</a:t>
            </a:r>
            <a:r>
              <a:rPr lang="ja-JP" altLang="en-US" dirty="0"/>
              <a:t>版の</a:t>
            </a:r>
            <a:r>
              <a:rPr lang="en-US" altLang="ja-JP" dirty="0" err="1"/>
              <a:t>ActiveReports</a:t>
            </a:r>
            <a:r>
              <a:rPr lang="ja-JP" altLang="en-US" dirty="0"/>
              <a:t>は、</a:t>
            </a:r>
            <a:r>
              <a:rPr lang="en-US" altLang="ja-JP" dirty="0"/>
              <a:t>.NET Framework</a:t>
            </a:r>
            <a:r>
              <a:rPr lang="ja-JP" altLang="en-US" dirty="0"/>
              <a:t>の技術をベースとして新規に開発されたコンポーネントであるため、基本的に</a:t>
            </a:r>
            <a:r>
              <a:rPr lang="en-US" altLang="ja-JP" dirty="0"/>
              <a:t>ActiveX</a:t>
            </a:r>
            <a:r>
              <a:rPr lang="ja-JP" altLang="en-US" dirty="0"/>
              <a:t>版との間に互換性はなく、移行ツールのようなものも用意されておりません。</a:t>
            </a:r>
          </a:p>
          <a:p>
            <a:r>
              <a:rPr lang="ja-JP" altLang="en-US" dirty="0"/>
              <a:t>ただし、</a:t>
            </a:r>
            <a:r>
              <a:rPr lang="en-US" altLang="ja-JP" dirty="0"/>
              <a:t>ActiveX</a:t>
            </a:r>
            <a:r>
              <a:rPr lang="ja-JP" altLang="en-US" dirty="0"/>
              <a:t>版のバージョン</a:t>
            </a:r>
            <a:r>
              <a:rPr lang="en-US" altLang="ja-JP" dirty="0"/>
              <a:t>2.0J</a:t>
            </a:r>
            <a:r>
              <a:rPr lang="ja-JP" altLang="en-US" dirty="0"/>
              <a:t>を使用してデザインしたレポートの場合、レポートレイアウト情報を</a:t>
            </a:r>
            <a:r>
              <a:rPr lang="en-US" altLang="ja-JP" dirty="0"/>
              <a:t>RPX</a:t>
            </a:r>
            <a:r>
              <a:rPr lang="ja-JP" altLang="en-US" dirty="0"/>
              <a:t>ファイル（</a:t>
            </a:r>
            <a:r>
              <a:rPr lang="en-US" altLang="ja-JP" dirty="0"/>
              <a:t>XML</a:t>
            </a:r>
            <a:r>
              <a:rPr lang="ja-JP" altLang="en-US" dirty="0"/>
              <a:t>形式）に保存することで、レポートのデザインに関する情報のみを、</a:t>
            </a:r>
            <a:r>
              <a:rPr lang="en-US" altLang="ja-JP" dirty="0" err="1"/>
              <a:t>ActiveReports</a:t>
            </a:r>
            <a:r>
              <a:rPr lang="en-US" altLang="ja-JP" dirty="0"/>
              <a:t> for .NET 14.0J</a:t>
            </a:r>
            <a:r>
              <a:rPr lang="ja-JP" altLang="en-US" dirty="0"/>
              <a:t>のセクションレポートに引き継ぐことが可能です。</a:t>
            </a:r>
          </a:p>
          <a:p>
            <a:r>
              <a:rPr lang="ja-JP" altLang="en-US" dirty="0" smtClean="0"/>
              <a:t>ページレポート</a:t>
            </a:r>
            <a:r>
              <a:rPr lang="ja-JP" altLang="en-US" dirty="0"/>
              <a:t>／</a:t>
            </a:r>
            <a:r>
              <a:rPr lang="en-US" altLang="ja-JP" dirty="0"/>
              <a:t>RDL</a:t>
            </a:r>
            <a:r>
              <a:rPr lang="ja-JP" altLang="en-US" dirty="0"/>
              <a:t>レポートに引き継ぐことは</a:t>
            </a:r>
            <a:r>
              <a:rPr lang="ja-JP" altLang="en-US"/>
              <a:t>できません</a:t>
            </a:r>
            <a:r>
              <a:rPr lang="ja-JP" altLang="en-US" smtClean="0"/>
              <a:t>。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 dirty="0"/>
          </a:p>
        </p:txBody>
      </p:sp>
      <p:pic>
        <p:nvPicPr>
          <p:cNvPr id="1026" name="Picture 2" descr="https://docs.mescius.jp/help/activereports-16/images.ja-JP/00_01_thum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798993"/>
            <a:ext cx="5742301" cy="227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883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84000"/>
          </a:xfrm>
        </p:spPr>
        <p:txBody>
          <a:bodyPr rtlCol="0">
            <a:normAutofit fontScale="90000"/>
          </a:bodyPr>
          <a:lstStyle/>
          <a:p>
            <a:r>
              <a:rPr lang="en-US" altLang="ja-JP" dirty="0"/>
              <a:t>5.</a:t>
            </a:r>
            <a:r>
              <a:rPr lang="ja-JP" altLang="en-US" dirty="0"/>
              <a:t>ソース マイグレーション方式の決定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998230"/>
          </a:xfrm>
        </p:spPr>
        <p:txBody>
          <a:bodyPr>
            <a:normAutofit lnSpcReduction="10000"/>
          </a:bodyPr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dirty="0"/>
              <a:t>(1</a:t>
            </a:r>
            <a:r>
              <a:rPr lang="en-US" altLang="ja-JP" dirty="0" smtClean="0"/>
              <a:t>).</a:t>
            </a:r>
            <a:r>
              <a:rPr lang="ja-JP" altLang="en-US" dirty="0" smtClean="0"/>
              <a:t>手順</a:t>
            </a:r>
            <a:r>
              <a:rPr lang="en-US" altLang="ja-JP" dirty="0"/>
              <a:t>A </a:t>
            </a:r>
            <a:r>
              <a:rPr lang="ja-JP" altLang="en-US" dirty="0"/>
              <a:t>～ </a:t>
            </a:r>
            <a:r>
              <a:rPr lang="en-US" altLang="ja-JP" dirty="0" err="1" smtClean="0"/>
              <a:t>ActiveReports</a:t>
            </a:r>
            <a:r>
              <a:rPr lang="en-US" altLang="ja-JP" dirty="0" smtClean="0"/>
              <a:t> 2.0J</a:t>
            </a:r>
            <a:r>
              <a:rPr lang="ja-JP" altLang="en-US" dirty="0" smtClean="0"/>
              <a:t>の移行ツールにて、</a:t>
            </a:r>
            <a:r>
              <a:rPr lang="en-US" altLang="ja-JP" dirty="0" smtClean="0"/>
              <a:t>1.5J</a:t>
            </a:r>
            <a:r>
              <a:rPr lang="ja-JP" altLang="en-US" dirty="0" smtClean="0"/>
              <a:t>ソースを</a:t>
            </a:r>
            <a:r>
              <a:rPr lang="en-US" altLang="ja-JP" dirty="0" smtClean="0"/>
              <a:t>2.0J</a:t>
            </a:r>
            <a:r>
              <a:rPr lang="ja-JP" altLang="en-US" dirty="0" smtClean="0"/>
              <a:t>ソース</a:t>
            </a:r>
            <a:r>
              <a:rPr lang="ja-JP" altLang="en-US" dirty="0"/>
              <a:t>へ</a:t>
            </a:r>
            <a:r>
              <a:rPr lang="ja-JP" altLang="en-US" dirty="0" smtClean="0"/>
              <a:t>変換、さらに</a:t>
            </a:r>
            <a:r>
              <a:rPr lang="en-US" altLang="ja-JP" dirty="0" smtClean="0"/>
              <a:t>RPX</a:t>
            </a:r>
            <a:r>
              <a:rPr lang="ja-JP" altLang="en-US" dirty="0" smtClean="0"/>
              <a:t>形式に保存 </a:t>
            </a:r>
            <a:endParaRPr lang="ja-JP" altLang="en-US" dirty="0"/>
          </a:p>
          <a:p>
            <a:r>
              <a:rPr lang="en-US" altLang="ja-JP" dirty="0"/>
              <a:t>(2</a:t>
            </a:r>
            <a:r>
              <a:rPr lang="en-US" altLang="ja-JP" dirty="0" smtClean="0"/>
              <a:t>).</a:t>
            </a:r>
            <a:r>
              <a:rPr lang="ja-JP" altLang="en-US" dirty="0" smtClean="0"/>
              <a:t>手順</a:t>
            </a:r>
            <a:r>
              <a:rPr lang="en-US" altLang="ja-JP" dirty="0"/>
              <a:t>B </a:t>
            </a:r>
            <a:r>
              <a:rPr lang="ja-JP" altLang="en-US" dirty="0"/>
              <a:t>～ </a:t>
            </a:r>
            <a:r>
              <a:rPr lang="en-US" altLang="ja-JP" dirty="0" err="1" smtClean="0"/>
              <a:t>ActiveReports</a:t>
            </a:r>
            <a:r>
              <a:rPr lang="en-US" altLang="ja-JP" dirty="0" smtClean="0"/>
              <a:t> 18.0J</a:t>
            </a:r>
            <a:r>
              <a:rPr lang="ja-JP" altLang="en-US" dirty="0" smtClean="0"/>
              <a:t>移行ツールにて、２</a:t>
            </a:r>
            <a:r>
              <a:rPr lang="en-US" altLang="ja-JP" dirty="0" smtClean="0"/>
              <a:t>.</a:t>
            </a:r>
            <a:r>
              <a:rPr lang="ja-JP" altLang="en-US" dirty="0" smtClean="0"/>
              <a:t>０</a:t>
            </a:r>
            <a:r>
              <a:rPr lang="en-US" altLang="ja-JP" dirty="0" smtClean="0"/>
              <a:t>J</a:t>
            </a:r>
            <a:r>
              <a:rPr lang="ja-JP" altLang="en-US" dirty="0" smtClean="0"/>
              <a:t>ソースを </a:t>
            </a:r>
            <a:r>
              <a:rPr lang="en-US" altLang="ja-JP" dirty="0" smtClean="0"/>
              <a:t>18.0J </a:t>
            </a:r>
            <a:r>
              <a:rPr lang="ja-JP" altLang="en-US" dirty="0" smtClean="0"/>
              <a:t>ソースへ変換 </a:t>
            </a:r>
            <a:endParaRPr lang="ja-JP" altLang="en-US" dirty="0"/>
          </a:p>
          <a:p>
            <a:r>
              <a:rPr lang="en-US" altLang="zh-TW" dirty="0"/>
              <a:t>(3</a:t>
            </a:r>
            <a:r>
              <a:rPr lang="en-US" altLang="zh-TW" dirty="0" smtClean="0"/>
              <a:t>)</a:t>
            </a:r>
            <a:r>
              <a:rPr lang="en-US" altLang="ja-JP" dirty="0" smtClean="0"/>
              <a:t>.</a:t>
            </a:r>
            <a:r>
              <a:rPr lang="zh-TW" altLang="en-US" dirty="0" smtClean="0"/>
              <a:t>手順</a:t>
            </a:r>
            <a:r>
              <a:rPr lang="en-US" altLang="zh-TW" dirty="0"/>
              <a:t>C </a:t>
            </a:r>
            <a:r>
              <a:rPr lang="zh-TW" altLang="en-US" dirty="0" smtClean="0"/>
              <a:t>～</a:t>
            </a:r>
            <a:r>
              <a:rPr lang="ja-JP" altLang="en-US" dirty="0"/>
              <a:t>それぞれのバージョン間（特に</a:t>
            </a:r>
            <a:r>
              <a:rPr lang="en-US" altLang="ja-JP" dirty="0"/>
              <a:t>1.0J→1.5J</a:t>
            </a:r>
            <a:r>
              <a:rPr lang="ja-JP" altLang="en-US" dirty="0"/>
              <a:t>修正版）で仕様上の変更点が多いため</a:t>
            </a:r>
            <a:r>
              <a:rPr lang="ja-JP" altLang="en-US" dirty="0" smtClean="0"/>
              <a:t>、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                  </a:t>
            </a:r>
            <a:r>
              <a:rPr lang="ja-JP" altLang="en-US" dirty="0" smtClean="0"/>
              <a:t>期待</a:t>
            </a:r>
            <a:r>
              <a:rPr lang="ja-JP" altLang="en-US" dirty="0"/>
              <a:t>した動作にならず、カスタマイズが必要になることが考えられます。</a:t>
            </a:r>
            <a:r>
              <a:rPr lang="zh-TW" altLang="en-US" dirty="0" smtClean="0"/>
              <a:t>手</a:t>
            </a:r>
            <a:r>
              <a:rPr lang="zh-TW" altLang="en-US" dirty="0"/>
              <a:t>修正作業 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617913" y="2735906"/>
            <a:ext cx="1064727" cy="66501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 smtClean="0"/>
              <a:t>ActiveReports</a:t>
            </a:r>
            <a:endParaRPr kumimoji="1" lang="en-US" altLang="ja-JP" sz="1100" dirty="0" smtClean="0"/>
          </a:p>
          <a:p>
            <a:pPr algn="ctr"/>
            <a:r>
              <a:rPr kumimoji="1" lang="en-US" altLang="ja-JP" sz="1100" dirty="0" smtClean="0"/>
              <a:t>1.5J</a:t>
            </a:r>
            <a:r>
              <a:rPr kumimoji="1" lang="ja-JP" altLang="en-US" sz="1100" dirty="0" smtClean="0"/>
              <a:t>ソース</a:t>
            </a:r>
            <a:endParaRPr kumimoji="1" lang="ja-JP" altLang="en-US" sz="1100" dirty="0"/>
          </a:p>
        </p:txBody>
      </p:sp>
      <p:sp>
        <p:nvSpPr>
          <p:cNvPr id="6" name="片側の 2 つの角を丸めた四角形 5"/>
          <p:cNvSpPr/>
          <p:nvPr/>
        </p:nvSpPr>
        <p:spPr>
          <a:xfrm>
            <a:off x="1936866" y="2335876"/>
            <a:ext cx="3075709" cy="2273446"/>
          </a:xfrm>
          <a:prstGeom prst="round2SameRect">
            <a:avLst>
              <a:gd name="adj1" fmla="val 870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3676299" y="2726575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ActiveReports</a:t>
            </a:r>
            <a:endParaRPr kumimoji="1" lang="en-US" altLang="ja-JP" sz="1100" dirty="0"/>
          </a:p>
          <a:p>
            <a:pPr algn="ctr"/>
            <a:r>
              <a:rPr kumimoji="1" lang="en-US" altLang="ja-JP" sz="1100" dirty="0" smtClean="0"/>
              <a:t>2.0J</a:t>
            </a:r>
            <a:r>
              <a:rPr kumimoji="1" lang="ja-JP" altLang="en-US" sz="1100" dirty="0"/>
              <a:t>ソース</a:t>
            </a:r>
          </a:p>
        </p:txBody>
      </p:sp>
      <p:sp>
        <p:nvSpPr>
          <p:cNvPr id="10" name="角丸四角形 9"/>
          <p:cNvSpPr/>
          <p:nvPr/>
        </p:nvSpPr>
        <p:spPr>
          <a:xfrm>
            <a:off x="3676299" y="3586943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ActiveReports</a:t>
            </a:r>
            <a:endParaRPr kumimoji="1" lang="en-US" altLang="ja-JP" sz="1100" dirty="0"/>
          </a:p>
          <a:p>
            <a:pPr algn="ctr"/>
            <a:r>
              <a:rPr kumimoji="1" lang="en-US" altLang="ja-JP" sz="1100" dirty="0"/>
              <a:t>2.0J</a:t>
            </a:r>
            <a:endParaRPr kumimoji="1" lang="en-US" altLang="ja-JP" sz="1100" dirty="0" smtClean="0"/>
          </a:p>
          <a:p>
            <a:pPr algn="ctr"/>
            <a:r>
              <a:rPr kumimoji="1" lang="en-US" altLang="ja-JP" sz="1100" dirty="0" smtClean="0"/>
              <a:t>(RPX</a:t>
            </a:r>
            <a:r>
              <a:rPr kumimoji="1" lang="ja-JP" altLang="en-US" sz="1100" dirty="0" smtClean="0"/>
              <a:t>形式</a:t>
            </a:r>
            <a:r>
              <a:rPr kumimoji="1" lang="en-US" altLang="ja-JP" sz="1100" dirty="0" smtClean="0"/>
              <a:t>)</a:t>
            </a:r>
            <a:endParaRPr kumimoji="1" lang="ja-JP" altLang="en-US" sz="1100" dirty="0"/>
          </a:p>
        </p:txBody>
      </p:sp>
      <p:sp>
        <p:nvSpPr>
          <p:cNvPr id="7" name="ホームベース 6"/>
          <p:cNvSpPr/>
          <p:nvPr/>
        </p:nvSpPr>
        <p:spPr>
          <a:xfrm>
            <a:off x="2103120" y="2734890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err="1"/>
              <a:t>ActiveReports</a:t>
            </a:r>
            <a:r>
              <a:rPr kumimoji="1" lang="en-US" altLang="ja-JP" sz="1000" dirty="0"/>
              <a:t> </a:t>
            </a:r>
            <a:r>
              <a:rPr kumimoji="1" lang="en-US" altLang="ja-JP" sz="1000" dirty="0" smtClean="0"/>
              <a:t>2.0J</a:t>
            </a:r>
          </a:p>
          <a:p>
            <a:pPr algn="ctr"/>
            <a:r>
              <a:rPr kumimoji="1" lang="ja-JP" altLang="en-US" sz="1000" dirty="0" smtClean="0"/>
              <a:t>ソースへ変換</a:t>
            </a:r>
            <a:endParaRPr kumimoji="1" lang="ja-JP" altLang="en-US" sz="1000" dirty="0"/>
          </a:p>
        </p:txBody>
      </p:sp>
      <p:sp>
        <p:nvSpPr>
          <p:cNvPr id="11" name="ホームベース 10"/>
          <p:cNvSpPr/>
          <p:nvPr/>
        </p:nvSpPr>
        <p:spPr>
          <a:xfrm>
            <a:off x="2103120" y="3595258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 smtClean="0"/>
              <a:t>手動変換</a:t>
            </a:r>
            <a:endParaRPr kumimoji="1" lang="ja-JP" altLang="en-US" sz="10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038313" y="2402378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13" name="片側の 2 つの角を丸めた四角形 12"/>
          <p:cNvSpPr/>
          <p:nvPr/>
        </p:nvSpPr>
        <p:spPr>
          <a:xfrm>
            <a:off x="5233548" y="2335876"/>
            <a:ext cx="3075709" cy="2273446"/>
          </a:xfrm>
          <a:prstGeom prst="round2SameRect">
            <a:avLst>
              <a:gd name="adj1" fmla="val 8702"/>
              <a:gd name="adj2" fmla="val 0"/>
            </a:avLst>
          </a:prstGeom>
          <a:solidFill>
            <a:srgbClr val="FFCCFF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/>
          <p:cNvSpPr/>
          <p:nvPr/>
        </p:nvSpPr>
        <p:spPr>
          <a:xfrm>
            <a:off x="7024233" y="3059084"/>
            <a:ext cx="1153396" cy="665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 err="1"/>
              <a:t>ActiveReports</a:t>
            </a:r>
            <a:endParaRPr kumimoji="1" lang="en-US" altLang="ja-JP" sz="1100" dirty="0"/>
          </a:p>
          <a:p>
            <a:pPr algn="ctr"/>
            <a:r>
              <a:rPr kumimoji="1" lang="en-US" altLang="ja-JP" sz="1100" dirty="0" smtClean="0"/>
              <a:t>18.0J</a:t>
            </a:r>
            <a:endParaRPr kumimoji="1" lang="ja-JP" altLang="en-US" sz="1100" dirty="0"/>
          </a:p>
        </p:txBody>
      </p:sp>
      <p:sp>
        <p:nvSpPr>
          <p:cNvPr id="15" name="ホームベース 14"/>
          <p:cNvSpPr/>
          <p:nvPr/>
        </p:nvSpPr>
        <p:spPr>
          <a:xfrm>
            <a:off x="5451054" y="3067399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err="1"/>
              <a:t>ActiveReports</a:t>
            </a:r>
            <a:r>
              <a:rPr kumimoji="1" lang="en-US" altLang="ja-JP" sz="1000" dirty="0"/>
              <a:t> </a:t>
            </a:r>
            <a:r>
              <a:rPr kumimoji="1" lang="en-US" altLang="ja-JP" sz="1000" dirty="0" smtClean="0"/>
              <a:t>18.0J</a:t>
            </a:r>
            <a:endParaRPr kumimoji="1" lang="en-US" altLang="ja-JP" sz="1000" dirty="0"/>
          </a:p>
          <a:p>
            <a:pPr algn="ctr"/>
            <a:r>
              <a:rPr kumimoji="1" lang="ja-JP" altLang="en-US" sz="1000" dirty="0" smtClean="0"/>
              <a:t>ツールで変更</a:t>
            </a:r>
            <a:endParaRPr kumimoji="1" lang="ja-JP" altLang="en-US" sz="10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301744" y="2453522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B</a:t>
            </a:r>
            <a:endParaRPr kumimoji="1" lang="ja-JP" altLang="en-US" dirty="0"/>
          </a:p>
        </p:txBody>
      </p:sp>
      <p:sp>
        <p:nvSpPr>
          <p:cNvPr id="17" name="片側の 2 つの角を丸めた四角形 16"/>
          <p:cNvSpPr/>
          <p:nvPr/>
        </p:nvSpPr>
        <p:spPr>
          <a:xfrm>
            <a:off x="8564861" y="2335876"/>
            <a:ext cx="2768158" cy="2273446"/>
          </a:xfrm>
          <a:prstGeom prst="round2SameRect">
            <a:avLst>
              <a:gd name="adj1" fmla="val 8702"/>
              <a:gd name="adj2" fmla="val 0"/>
            </a:avLst>
          </a:prstGeom>
          <a:solidFill>
            <a:srgbClr val="FFCCCC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9646232" y="2453522"/>
            <a:ext cx="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手順</a:t>
            </a:r>
            <a:r>
              <a:rPr kumimoji="1" lang="en-US" altLang="ja-JP" dirty="0" smtClean="0"/>
              <a:t>C</a:t>
            </a:r>
            <a:endParaRPr kumimoji="1" lang="ja-JP" altLang="en-US" dirty="0"/>
          </a:p>
        </p:txBody>
      </p:sp>
      <p:sp>
        <p:nvSpPr>
          <p:cNvPr id="19" name="ホームベース 18"/>
          <p:cNvSpPr/>
          <p:nvPr/>
        </p:nvSpPr>
        <p:spPr>
          <a:xfrm>
            <a:off x="9198731" y="3067479"/>
            <a:ext cx="1645920" cy="656705"/>
          </a:xfrm>
          <a:prstGeom prst="homePlate">
            <a:avLst>
              <a:gd name="adj" fmla="val 284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変更点</a:t>
            </a:r>
            <a:r>
              <a:rPr kumimoji="1" lang="ja-JP" altLang="en-US" sz="1000" dirty="0" smtClean="0"/>
              <a:t>別に手修正</a:t>
            </a:r>
            <a:endParaRPr kumimoji="1" lang="ja-JP" altLang="en-US" sz="1000" dirty="0"/>
          </a:p>
        </p:txBody>
      </p:sp>
      <p:sp>
        <p:nvSpPr>
          <p:cNvPr id="20" name="上矢印吹き出し 19"/>
          <p:cNvSpPr/>
          <p:nvPr/>
        </p:nvSpPr>
        <p:spPr>
          <a:xfrm>
            <a:off x="9052561" y="3802391"/>
            <a:ext cx="1911926" cy="611667"/>
          </a:xfrm>
          <a:prstGeom prst="upArrow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BOC</a:t>
            </a:r>
            <a:r>
              <a:rPr kumimoji="1" lang="ja-JP" altLang="en-US" dirty="0" smtClean="0"/>
              <a:t>仕様変更</a:t>
            </a:r>
            <a:endParaRPr kumimoji="1" lang="ja-JP" altLang="en-US" dirty="0"/>
          </a:p>
        </p:txBody>
      </p:sp>
      <p:cxnSp>
        <p:nvCxnSpPr>
          <p:cNvPr id="22" name="カギ線コネクタ 21"/>
          <p:cNvCxnSpPr>
            <a:stCxn id="4" idx="3"/>
            <a:endCxn id="7" idx="1"/>
          </p:cNvCxnSpPr>
          <p:nvPr/>
        </p:nvCxnSpPr>
        <p:spPr>
          <a:xfrm flipV="1">
            <a:off x="1682640" y="3063243"/>
            <a:ext cx="420480" cy="5173"/>
          </a:xfrm>
          <a:prstGeom prst="bentConnector3">
            <a:avLst/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カギ線コネクタ 23"/>
          <p:cNvCxnSpPr>
            <a:stCxn id="9" idx="2"/>
            <a:endCxn id="11" idx="1"/>
          </p:cNvCxnSpPr>
          <p:nvPr/>
        </p:nvCxnSpPr>
        <p:spPr>
          <a:xfrm rot="5400000">
            <a:off x="2912051" y="2582665"/>
            <a:ext cx="532016" cy="2149877"/>
          </a:xfrm>
          <a:prstGeom prst="bentConnector4">
            <a:avLst>
              <a:gd name="adj1" fmla="val 19141"/>
              <a:gd name="adj2" fmla="val 110633"/>
            </a:avLst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/>
          <p:cNvCxnSpPr>
            <a:stCxn id="10" idx="3"/>
            <a:endCxn id="15" idx="1"/>
          </p:cNvCxnSpPr>
          <p:nvPr/>
        </p:nvCxnSpPr>
        <p:spPr>
          <a:xfrm flipV="1">
            <a:off x="4829695" y="3395752"/>
            <a:ext cx="621359" cy="523701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/>
          <p:cNvCxnSpPr>
            <a:stCxn id="14" idx="3"/>
            <a:endCxn id="19" idx="1"/>
          </p:cNvCxnSpPr>
          <p:nvPr/>
        </p:nvCxnSpPr>
        <p:spPr>
          <a:xfrm>
            <a:off x="8177629" y="3391594"/>
            <a:ext cx="1021102" cy="4238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59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長方形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dirty="0"/>
          </a:p>
        </p:txBody>
      </p:sp>
      <p:pic>
        <p:nvPicPr>
          <p:cNvPr id="5" name="画像 4" descr="デジタル数字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長方形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2800" dirty="0" smtClean="0">
                <a:solidFill>
                  <a:srgbClr val="FFFFFF"/>
                </a:solidFill>
              </a:rPr>
              <a:t>ご確認</a:t>
            </a:r>
            <a:r>
              <a:rPr lang="en-US" altLang="ja-JP" sz="2800" dirty="0" smtClean="0">
                <a:solidFill>
                  <a:srgbClr val="FFFFFF"/>
                </a:solidFill>
              </a:rPr>
              <a:t/>
            </a:r>
            <a:br>
              <a:rPr lang="en-US" altLang="ja-JP" sz="2800" dirty="0" smtClean="0">
                <a:solidFill>
                  <a:srgbClr val="FFFFFF"/>
                </a:solidFill>
              </a:rPr>
            </a:br>
            <a:r>
              <a:rPr lang="ja-JP" altLang="en-US" sz="2800" dirty="0" smtClean="0">
                <a:solidFill>
                  <a:srgbClr val="FFFFFF"/>
                </a:solidFill>
              </a:rPr>
              <a:t>ありがとう</a:t>
            </a:r>
            <a:r>
              <a:rPr lang="ja-JP" altLang="en-US" sz="2800" dirty="0">
                <a:solidFill>
                  <a:srgbClr val="FFFFFF"/>
                </a:solidFill>
              </a:rPr>
              <a:t>ございます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en-US" altLang="ja-JP" dirty="0">
                <a:solidFill>
                  <a:schemeClr val="bg2"/>
                </a:solidFill>
              </a:rPr>
              <a:t>someone@example.com</a:t>
            </a:r>
          </a:p>
          <a:p>
            <a:pPr rtl="0"/>
            <a:endParaRPr lang="ja-JP" altLang="en-US" dirty="0">
              <a:solidFill>
                <a:schemeClr val="bg2"/>
              </a:solidFill>
            </a:endParaRPr>
          </a:p>
          <a:p>
            <a:pPr rtl="0"/>
            <a:endParaRPr lang="ja-JP" altLang="en-US" dirty="0">
              <a:solidFill>
                <a:schemeClr val="bg2"/>
              </a:solidFill>
            </a:endParaRPr>
          </a:p>
        </p:txBody>
      </p:sp>
      <p:grpSp>
        <p:nvGrpSpPr>
          <p:cNvPr id="14" name="グループ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長方形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長方形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長方形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7248179_TF33568355" id="{AFEEBDA8-255A-4958-A610-A2BEDD05A8D3}" vid="{257B8A2A-890E-4E59-9478-8D07761AD9C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71af3243-3dd4-4a8d-8c0d-dd76da1f02a5"/>
    <ds:schemaRef ds:uri="http://schemas.microsoft.com/office/infopath/2007/PartnerControls"/>
    <ds:schemaRef ds:uri="http://purl.org/dc/dcmitype/"/>
    <ds:schemaRef ds:uri="http://schemas.microsoft.com/office/2006/metadata/properties"/>
    <ds:schemaRef ds:uri="16c05727-aa75-4e4a-9b5f-8a80a1165891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技術の配当デザイン</Template>
  <TotalTime>0</TotalTime>
  <Words>1098</Words>
  <Application>Microsoft Office PowerPoint</Application>
  <PresentationFormat>ワイド画面</PresentationFormat>
  <Paragraphs>243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2" baseType="lpstr">
      <vt:lpstr>HGｺﾞｼｯｸE</vt:lpstr>
      <vt:lpstr>Meiryo UI</vt:lpstr>
      <vt:lpstr>ＭＳ Ｐゴシック</vt:lpstr>
      <vt:lpstr>メイリオ</vt:lpstr>
      <vt:lpstr>Gill Sans MT</vt:lpstr>
      <vt:lpstr>Wingdings 2</vt:lpstr>
      <vt:lpstr>配当</vt:lpstr>
      <vt:lpstr>マイグレーション方式について</vt:lpstr>
      <vt:lpstr>移行方式</vt:lpstr>
      <vt:lpstr>1.データベースの移行方式</vt:lpstr>
      <vt:lpstr>1.データベースの移行方式</vt:lpstr>
      <vt:lpstr>2.ソース マイグレーション方式の調査</vt:lpstr>
      <vt:lpstr>2.ソース マイグレーション方式の調査</vt:lpstr>
      <vt:lpstr>3.ソース マイグレーションツールの作成検討</vt:lpstr>
      <vt:lpstr>4.ソース 手修正の変換ルール・修正割合の検討</vt:lpstr>
      <vt:lpstr>5.ソース マイグレーション方式の決定</vt:lpstr>
      <vt:lpstr>5.ソース マイグレーション方式の決定</vt:lpstr>
      <vt:lpstr>5.ソース マイグレーション方式の決定</vt:lpstr>
      <vt:lpstr>5.ソース マイグレーション方式の決定</vt:lpstr>
      <vt:lpstr>5.ソース マイグレーション方式の決定</vt:lpstr>
      <vt:lpstr>5.ソース マイグレーション方式の決定</vt:lpstr>
      <vt:lpstr>ご確認 ありがとうございます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2024-02-08T07:20:59Z</dcterms:created>
  <dcterms:modified xsi:type="dcterms:W3CDTF">2024-03-28T01:08:20Z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